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9" r:id="rId1"/>
  </p:sldMasterIdLst>
  <p:notesMasterIdLst>
    <p:notesMasterId r:id="rId16"/>
  </p:notesMasterIdLst>
  <p:sldIdLst>
    <p:sldId id="256" r:id="rId2"/>
    <p:sldId id="284" r:id="rId3"/>
    <p:sldId id="268" r:id="rId4"/>
    <p:sldId id="259" r:id="rId5"/>
    <p:sldId id="260" r:id="rId6"/>
    <p:sldId id="262" r:id="rId7"/>
    <p:sldId id="282" r:id="rId8"/>
    <p:sldId id="283" r:id="rId9"/>
    <p:sldId id="273" r:id="rId10"/>
    <p:sldId id="271" r:id="rId11"/>
    <p:sldId id="285" r:id="rId12"/>
    <p:sldId id="286" r:id="rId13"/>
    <p:sldId id="287" r:id="rId14"/>
    <p:sldId id="281" r:id="rId15"/>
  </p:sldIdLst>
  <p:sldSz cx="9144000" cy="5143500" type="screen16x9"/>
  <p:notesSz cx="6858000" cy="9144000"/>
  <p:embeddedFontLst>
    <p:embeddedFont>
      <p:font typeface="Vazir" panose="020B0604020202020204" charset="-78"/>
      <p:regular r:id="rId17"/>
      <p:bold r:id="rId18"/>
    </p:embeddedFont>
    <p:embeddedFont>
      <p:font typeface="Roboto" panose="020B0604020202020204" charset="0"/>
      <p:regular r:id="rId19"/>
      <p:bold r:id="rId20"/>
      <p:italic r:id="rId21"/>
      <p:boldItalic r:id="rId22"/>
    </p:embeddedFont>
    <p:embeddedFont>
      <p:font typeface="B Nazanin" panose="00000400000000000000" pitchFamily="2" charset="-78"/>
      <p:regular r:id="rId23"/>
      <p:bold r:id="rId24"/>
    </p:embeddedFont>
    <p:embeddedFont>
      <p:font typeface="Estedad Black" panose="020B0604020202020204" charset="-78"/>
      <p:bold r:id="rId25"/>
    </p:embeddedFont>
    <p:embeddedFont>
      <p:font typeface="Livvic" panose="020B0604020202020204" charset="0"/>
      <p:regular r:id="rId26"/>
      <p:bold r:id="rId27"/>
    </p:embeddedFont>
    <p:embeddedFont>
      <p:font typeface="Shabnam" panose="020B0604020202020204" charset="-78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AA0E32-4FA7-4D78-9775-3A0E401C5AC0}">
  <a:tblStyle styleId="{5AAA0E32-4FA7-4D78-9775-3A0E401C5A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2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328921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687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5522eb7919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5522eb7919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948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3e13d9a7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3e13d9a7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7956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5522eb7919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5522eb7919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036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5158d5a3ec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5158d5a3ec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048020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547438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637395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36149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5158d5a3e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5158d5a3e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8652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5465e7bc0b_1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5465e7bc0b_1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3679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5465e7bc0b_1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5465e7bc0b_1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483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5465e7bc0b_1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5465e7bc0b_1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0210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5465e7bc0b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5465e7bc0b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607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5465e7bc0b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5465e7bc0b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8064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 dirty="0"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CUSTOM_13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672375" y="1432475"/>
            <a:ext cx="3498000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1"/>
          </p:nvPr>
        </p:nvSpPr>
        <p:spPr>
          <a:xfrm flipH="1">
            <a:off x="1667175" y="2154225"/>
            <a:ext cx="2503200" cy="11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434343"/>
                </a:solidFill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>
  <p:cSld name="CUSTOM_27_1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ctrTitle"/>
          </p:nvPr>
        </p:nvSpPr>
        <p:spPr>
          <a:xfrm>
            <a:off x="631875" y="842025"/>
            <a:ext cx="287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631884" y="1410841"/>
            <a:ext cx="24807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34" name="Google Shape;34;p5"/>
          <p:cNvSpPr txBox="1">
            <a:spLocks noGrp="1"/>
          </p:cNvSpPr>
          <p:nvPr>
            <p:ph type="ctrTitle" idx="2"/>
          </p:nvPr>
        </p:nvSpPr>
        <p:spPr>
          <a:xfrm>
            <a:off x="4213664" y="842025"/>
            <a:ext cx="26979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3"/>
          </p:nvPr>
        </p:nvSpPr>
        <p:spPr>
          <a:xfrm>
            <a:off x="4213664" y="1410841"/>
            <a:ext cx="2586000" cy="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36" name="Google Shape;36;p5"/>
          <p:cNvSpPr txBox="1">
            <a:spLocks noGrp="1"/>
          </p:cNvSpPr>
          <p:nvPr>
            <p:ph type="ctrTitle" idx="4"/>
          </p:nvPr>
        </p:nvSpPr>
        <p:spPr>
          <a:xfrm>
            <a:off x="631883" y="3331927"/>
            <a:ext cx="287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5"/>
          </p:nvPr>
        </p:nvSpPr>
        <p:spPr>
          <a:xfrm>
            <a:off x="631884" y="3914208"/>
            <a:ext cx="24807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38" name="Google Shape;38;p5"/>
          <p:cNvSpPr txBox="1">
            <a:spLocks noGrp="1"/>
          </p:cNvSpPr>
          <p:nvPr>
            <p:ph type="ctrTitle" idx="6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  <p:sp>
        <p:nvSpPr>
          <p:cNvPr id="39" name="Google Shape;39;p5"/>
          <p:cNvSpPr txBox="1">
            <a:spLocks noGrp="1"/>
          </p:cNvSpPr>
          <p:nvPr>
            <p:ph type="ctrTitle" idx="7"/>
          </p:nvPr>
        </p:nvSpPr>
        <p:spPr>
          <a:xfrm>
            <a:off x="4213664" y="3331934"/>
            <a:ext cx="25860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8"/>
          </p:nvPr>
        </p:nvSpPr>
        <p:spPr>
          <a:xfrm>
            <a:off x="4213664" y="3914208"/>
            <a:ext cx="2586000" cy="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CUSTOM_14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ctrTitle"/>
          </p:nvPr>
        </p:nvSpPr>
        <p:spPr>
          <a:xfrm>
            <a:off x="5432000" y="710675"/>
            <a:ext cx="28881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subTitle" idx="1"/>
          </p:nvPr>
        </p:nvSpPr>
        <p:spPr>
          <a:xfrm>
            <a:off x="5363550" y="2724625"/>
            <a:ext cx="29565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30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656422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656425" y="1886725"/>
            <a:ext cx="1563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69" name="Google Shape;69;p13"/>
          <p:cNvSpPr txBox="1">
            <a:spLocks noGrp="1"/>
          </p:cNvSpPr>
          <p:nvPr>
            <p:ph type="ctrTitle" idx="2"/>
          </p:nvPr>
        </p:nvSpPr>
        <p:spPr>
          <a:xfrm>
            <a:off x="2650710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3"/>
          </p:nvPr>
        </p:nvSpPr>
        <p:spPr>
          <a:xfrm>
            <a:off x="2610700" y="1886725"/>
            <a:ext cx="1961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71" name="Google Shape;71;p13"/>
          <p:cNvSpPr txBox="1">
            <a:spLocks noGrp="1"/>
          </p:cNvSpPr>
          <p:nvPr>
            <p:ph type="ctrTitle" idx="4"/>
          </p:nvPr>
        </p:nvSpPr>
        <p:spPr>
          <a:xfrm>
            <a:off x="4638106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5"/>
          </p:nvPr>
        </p:nvSpPr>
        <p:spPr>
          <a:xfrm>
            <a:off x="4878076" y="1886725"/>
            <a:ext cx="1648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ctrTitle" idx="6"/>
          </p:nvPr>
        </p:nvSpPr>
        <p:spPr>
          <a:xfrm rot="5400000">
            <a:off x="6865575" y="1466125"/>
            <a:ext cx="25530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  <p:sp>
        <p:nvSpPr>
          <p:cNvPr id="74" name="Google Shape;74;p13"/>
          <p:cNvSpPr txBox="1">
            <a:spLocks noGrp="1"/>
          </p:cNvSpPr>
          <p:nvPr>
            <p:ph type="ctrTitle" idx="7"/>
          </p:nvPr>
        </p:nvSpPr>
        <p:spPr>
          <a:xfrm>
            <a:off x="656422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8"/>
          </p:nvPr>
        </p:nvSpPr>
        <p:spPr>
          <a:xfrm>
            <a:off x="656425" y="3860125"/>
            <a:ext cx="1563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76" name="Google Shape;76;p13"/>
          <p:cNvSpPr txBox="1">
            <a:spLocks noGrp="1"/>
          </p:cNvSpPr>
          <p:nvPr>
            <p:ph type="ctrTitle" idx="9"/>
          </p:nvPr>
        </p:nvSpPr>
        <p:spPr>
          <a:xfrm>
            <a:off x="2650710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3"/>
          </p:nvPr>
        </p:nvSpPr>
        <p:spPr>
          <a:xfrm>
            <a:off x="2610700" y="3860125"/>
            <a:ext cx="1961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ctrTitle" idx="14"/>
          </p:nvPr>
        </p:nvSpPr>
        <p:spPr>
          <a:xfrm>
            <a:off x="4638106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5"/>
          </p:nvPr>
        </p:nvSpPr>
        <p:spPr>
          <a:xfrm>
            <a:off x="4878076" y="3860125"/>
            <a:ext cx="1648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1">
  <p:cSld name="CUSTOM_2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subTitle" idx="1"/>
          </p:nvPr>
        </p:nvSpPr>
        <p:spPr>
          <a:xfrm>
            <a:off x="4633950" y="1847896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2"/>
          </p:nvPr>
        </p:nvSpPr>
        <p:spPr>
          <a:xfrm>
            <a:off x="4633950" y="3827870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85" name="Google Shape;85;p15"/>
          <p:cNvSpPr txBox="1">
            <a:spLocks noGrp="1"/>
          </p:cNvSpPr>
          <p:nvPr>
            <p:ph type="ctrTitle"/>
          </p:nvPr>
        </p:nvSpPr>
        <p:spPr>
          <a:xfrm>
            <a:off x="4633950" y="1539296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86" name="Google Shape;86;p15"/>
          <p:cNvSpPr txBox="1">
            <a:spLocks noGrp="1"/>
          </p:cNvSpPr>
          <p:nvPr>
            <p:ph type="ctrTitle" idx="3"/>
          </p:nvPr>
        </p:nvSpPr>
        <p:spPr>
          <a:xfrm>
            <a:off x="4633950" y="3519270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87" name="Google Shape;87;p15"/>
          <p:cNvSpPr txBox="1">
            <a:spLocks noGrp="1"/>
          </p:cNvSpPr>
          <p:nvPr>
            <p:ph type="ctrTitle" idx="4"/>
          </p:nvPr>
        </p:nvSpPr>
        <p:spPr>
          <a:xfrm rot="5400000">
            <a:off x="6917175" y="1414524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>
  <p:cSld name="CUSTOM_32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subTitle" idx="1"/>
          </p:nvPr>
        </p:nvSpPr>
        <p:spPr>
          <a:xfrm>
            <a:off x="2258125" y="3106325"/>
            <a:ext cx="3029100" cy="10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 dirty="0"/>
          </a:p>
        </p:txBody>
      </p:sp>
      <p:sp>
        <p:nvSpPr>
          <p:cNvPr id="90" name="Google Shape;90;p16"/>
          <p:cNvSpPr txBox="1">
            <a:spLocks noGrp="1"/>
          </p:cNvSpPr>
          <p:nvPr>
            <p:ph type="ctrTitle"/>
          </p:nvPr>
        </p:nvSpPr>
        <p:spPr>
          <a:xfrm rot="5400000">
            <a:off x="7241489" y="1041025"/>
            <a:ext cx="1702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6">
  <p:cSld name="CUSTOM_11_1_2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Estedad Black" panose="02000A03000000000000" pitchFamily="2" charset="-78"/>
                <a:cs typeface="Estedad Black" panose="02000A03000000000000" pitchFamily="2" charset="-7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1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Vazir" panose="020B0603030804020204" pitchFamily="34" charset="-78"/>
                <a:cs typeface="Vazir" panose="020B0603030804020204" pitchFamily="34" charset="-78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9" r:id="rId5"/>
    <p:sldLayoutId id="2147483661" r:id="rId6"/>
    <p:sldLayoutId id="2147483662" r:id="rId7"/>
    <p:sldLayoutId id="214748366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Estedad Black" panose="02000A03000000000000" pitchFamily="2" charset="-78"/>
          <a:ea typeface="Estedad Black" panose="02000A03000000000000" pitchFamily="2" charset="-78"/>
          <a:cs typeface="Estedad Black" panose="02000A03000000000000" pitchFamily="2" charset="-78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Vazir" panose="020B0603030804020204" pitchFamily="34" charset="-78"/>
          <a:ea typeface="Vazir" panose="020B0603030804020204" pitchFamily="34" charset="-78"/>
          <a:cs typeface="Vazir" panose="020B0603030804020204" pitchFamily="34" charset="-78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2214590" y="0"/>
            <a:ext cx="692940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4"/>
          <p:cNvSpPr/>
          <p:nvPr/>
        </p:nvSpPr>
        <p:spPr>
          <a:xfrm rot="5400000">
            <a:off x="1428875" y="13850"/>
            <a:ext cx="3358800" cy="5026500"/>
          </a:xfrm>
          <a:prstGeom prst="rect">
            <a:avLst/>
          </a:prstGeom>
          <a:solidFill>
            <a:srgbClr val="908269">
              <a:alpha val="86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ubTitle" idx="1"/>
          </p:nvPr>
        </p:nvSpPr>
        <p:spPr>
          <a:xfrm>
            <a:off x="1039574" y="3245300"/>
            <a:ext cx="4491981" cy="45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>
                <a:solidFill>
                  <a:schemeClr val="lt1"/>
                </a:solidFill>
              </a:rPr>
              <a:t>تهیه شده توسط </a:t>
            </a:r>
            <a:r>
              <a:rPr lang="fa-IR" dirty="0" smtClean="0">
                <a:solidFill>
                  <a:schemeClr val="lt1"/>
                </a:solidFill>
              </a:rPr>
              <a:t>شرکت ایده سازان نوین مامطیر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1039575" y="1220100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4000" dirty="0" smtClean="0">
                <a:solidFill>
                  <a:schemeClr val="lt1"/>
                </a:solidFill>
                <a:sym typeface="Livvic"/>
              </a:rPr>
              <a:t>معرفی پلتفرم مدیریت پسماند قرار در بابل</a:t>
            </a:r>
            <a:br>
              <a:rPr lang="fa-IR" sz="4000" dirty="0" smtClean="0">
                <a:solidFill>
                  <a:schemeClr val="lt1"/>
                </a:solidFill>
                <a:sym typeface="Livvic"/>
              </a:rPr>
            </a:br>
            <a:endParaRPr sz="2400" dirty="0">
              <a:solidFill>
                <a:schemeClr val="lt1"/>
              </a:solidFill>
              <a:sym typeface="Livvic"/>
            </a:endParaRPr>
          </a:p>
        </p:txBody>
      </p:sp>
      <p:sp>
        <p:nvSpPr>
          <p:cNvPr id="127" name="Google Shape;127;p24"/>
          <p:cNvSpPr/>
          <p:nvPr/>
        </p:nvSpPr>
        <p:spPr>
          <a:xfrm rot="-5400000" flipH="1">
            <a:off x="7354200" y="2416550"/>
            <a:ext cx="3358800" cy="2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97791" y="2811439"/>
            <a:ext cx="283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 smtClean="0">
                <a:solidFill>
                  <a:srgbClr val="002060"/>
                </a:solidFill>
              </a:rPr>
              <a:t>https://gharar.green</a:t>
            </a:r>
            <a:endParaRPr lang="en-US" sz="1800" b="1" dirty="0">
              <a:solidFill>
                <a:srgbClr val="00206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75" y="3046324"/>
            <a:ext cx="1851550" cy="11597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 rotWithShape="1">
          <a:blip r:embed="rId3">
            <a:alphaModFix/>
          </a:blip>
          <a:srcRect l="25616" r="25616"/>
          <a:stretch/>
        </p:blipFill>
        <p:spPr>
          <a:xfrm>
            <a:off x="5381625" y="0"/>
            <a:ext cx="376237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/>
          <p:nvPr/>
        </p:nvSpPr>
        <p:spPr>
          <a:xfrm>
            <a:off x="4819650" y="1577400"/>
            <a:ext cx="2991000" cy="19887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8000" dirty="0" smtClean="0">
                <a:latin typeface="Estedad Black" panose="020B0604020202020204" charset="-78"/>
                <a:cs typeface="Estedad Black" panose="020B0604020202020204" charset="-78"/>
              </a:rPr>
              <a:t>ابرلاین</a:t>
            </a:r>
            <a:endParaRPr dirty="0">
              <a:latin typeface="Estedad Black" panose="020B0604020202020204" charset="-78"/>
              <a:cs typeface="Estedad Black" panose="020B0604020202020204" charset="-78"/>
            </a:endParaRPr>
          </a:p>
        </p:txBody>
      </p:sp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181050" y="971224"/>
            <a:ext cx="4457549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a-IR" dirty="0" smtClean="0"/>
              <a:t>ابرلاین تولید کننده 12 نرم فزار فعال با 15 سال سابقه فعالیت</a:t>
            </a:r>
            <a:endParaRPr lang="fa-IR" dirty="0"/>
          </a:p>
        </p:txBody>
      </p:sp>
      <p:sp>
        <p:nvSpPr>
          <p:cNvPr id="167" name="Google Shape;167;p27"/>
          <p:cNvSpPr/>
          <p:nvPr/>
        </p:nvSpPr>
        <p:spPr>
          <a:xfrm>
            <a:off x="0" y="1577400"/>
            <a:ext cx="362100" cy="19887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60A4B62-D2F1-4428-4915-597815E8B543}"/>
              </a:ext>
            </a:extLst>
          </p:cNvPr>
          <p:cNvSpPr txBox="1"/>
          <p:nvPr/>
        </p:nvSpPr>
        <p:spPr>
          <a:xfrm>
            <a:off x="692561" y="1958960"/>
            <a:ext cx="39899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1500" dirty="0">
                <a:cs typeface="B Nazanin" panose="00000400000000000000" pitchFamily="2" charset="-78"/>
              </a:rPr>
              <a:t>ابرلاین یک اکوسیستم محصول برای دیجیتال‌سازی عملیات، مالی و رشد </a:t>
            </a:r>
            <a:r>
              <a:rPr lang="fa-IR" sz="1500" dirty="0" smtClean="0">
                <a:cs typeface="B Nazanin" panose="00000400000000000000" pitchFamily="2" charset="-78"/>
              </a:rPr>
              <a:t>کسب‌وکارهاست،ما </a:t>
            </a:r>
            <a:r>
              <a:rPr lang="fa-IR" sz="1500" dirty="0">
                <a:cs typeface="B Nazanin" panose="00000400000000000000" pitchFamily="2" charset="-78"/>
              </a:rPr>
              <a:t>سیستم می‌سازیم، نه فقط نرم‌افزار</a:t>
            </a:r>
            <a:r>
              <a:rPr lang="fa-IR" sz="1500" dirty="0" smtClean="0">
                <a:cs typeface="B Nazanin" panose="00000400000000000000" pitchFamily="2" charset="-78"/>
              </a:rPr>
              <a:t>.</a:t>
            </a:r>
          </a:p>
          <a:p>
            <a:pPr algn="just" rtl="1">
              <a:lnSpc>
                <a:spcPct val="150000"/>
              </a:lnSpc>
            </a:pPr>
            <a:r>
              <a:rPr lang="fa-IR" sz="15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B Nazanin" panose="00000400000000000000" pitchFamily="2" charset="-78"/>
              </a:rPr>
              <a:t>تولید کننده نرم افزار هایی از جمله:</a:t>
            </a:r>
          </a:p>
          <a:p>
            <a:pPr algn="just" rtl="1">
              <a:lnSpc>
                <a:spcPct val="150000"/>
              </a:lnSpc>
            </a:pPr>
            <a:r>
              <a:rPr lang="fa-IR" sz="15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B Nazanin" panose="00000400000000000000" pitchFamily="2" charset="-78"/>
              </a:rPr>
              <a:t>تاکسی اینترنتی </a:t>
            </a:r>
          </a:p>
          <a:p>
            <a:pPr algn="just" rtl="1">
              <a:lnSpc>
                <a:spcPct val="150000"/>
              </a:lnSpc>
            </a:pPr>
            <a:r>
              <a:rPr lang="fa-IR" sz="15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B Nazanin" panose="00000400000000000000" pitchFamily="2" charset="-78"/>
              </a:rPr>
              <a:t>نرم افزار تولیدی</a:t>
            </a:r>
            <a:endParaRPr lang="fa-IR" sz="1500" b="1" dirty="0" smtClean="0">
              <a:solidFill>
                <a:schemeClr val="tx1">
                  <a:lumMod val="95000"/>
                  <a:lumOff val="5000"/>
                </a:schemeClr>
              </a:solidFill>
              <a:latin typeface="Shabnam" panose="020B0603030804020204" pitchFamily="34" charset="-78"/>
              <a:cs typeface="B Nazanin" panose="00000400000000000000" pitchFamily="2" charset="-78"/>
            </a:endParaRPr>
          </a:p>
          <a:p>
            <a:pPr algn="just" rtl="1">
              <a:lnSpc>
                <a:spcPct val="150000"/>
              </a:lnSpc>
            </a:pPr>
            <a:r>
              <a:rPr lang="fa-IR" sz="15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B Nazanin" panose="00000400000000000000" pitchFamily="2" charset="-78"/>
              </a:rPr>
              <a:t>اتوماسیون اداری </a:t>
            </a:r>
          </a:p>
          <a:p>
            <a:pPr algn="just" rtl="1">
              <a:lnSpc>
                <a:spcPct val="150000"/>
              </a:lnSpc>
            </a:pPr>
            <a:r>
              <a:rPr lang="fa-IR" sz="15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B Nazanin" panose="00000400000000000000" pitchFamily="2" charset="-78"/>
              </a:rPr>
              <a:t>نرم افزار حسابداری </a:t>
            </a:r>
          </a:p>
          <a:p>
            <a:pPr algn="just" rtl="1">
              <a:lnSpc>
                <a:spcPct val="150000"/>
              </a:lnSpc>
            </a:pPr>
            <a:r>
              <a:rPr lang="fa-IR" sz="15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B Nazanin" panose="00000400000000000000" pitchFamily="2" charset="-78"/>
              </a:rPr>
              <a:t>نرم افزار ورزشی</a:t>
            </a:r>
            <a:endParaRPr lang="fa-IR" sz="1500" b="1" dirty="0">
              <a:solidFill>
                <a:schemeClr val="tx1">
                  <a:lumMod val="95000"/>
                  <a:lumOff val="5000"/>
                </a:schemeClr>
              </a:solidFill>
              <a:latin typeface="Shabnam" panose="020B0603030804020204" pitchFamily="34" charset="-78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829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ctrTitle" idx="6"/>
          </p:nvPr>
        </p:nvSpPr>
        <p:spPr>
          <a:xfrm rot="5400000">
            <a:off x="5600083" y="2319311"/>
            <a:ext cx="5126122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بهترین مشتریان ما</a:t>
            </a:r>
            <a:endParaRPr dirty="0"/>
          </a:p>
        </p:txBody>
      </p:sp>
      <p:sp>
        <p:nvSpPr>
          <p:cNvPr id="254" name="Google Shape;254;p36"/>
          <p:cNvSpPr txBox="1">
            <a:spLocks noGrp="1"/>
          </p:cNvSpPr>
          <p:nvPr>
            <p:ph type="subTitle" idx="1"/>
          </p:nvPr>
        </p:nvSpPr>
        <p:spPr>
          <a:xfrm>
            <a:off x="656425" y="1931881"/>
            <a:ext cx="1563900" cy="7226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تولید سی ار ام و مانیتورینگ بازاریاب ها در شرکت نگارخودرو</a:t>
            </a:r>
            <a:endParaRPr lang="fa-IR" dirty="0"/>
          </a:p>
        </p:txBody>
      </p:sp>
      <p:sp>
        <p:nvSpPr>
          <p:cNvPr id="255" name="Google Shape;255;p36"/>
          <p:cNvSpPr txBox="1">
            <a:spLocks noGrp="1"/>
          </p:cNvSpPr>
          <p:nvPr>
            <p:ph type="subTitle" idx="3"/>
          </p:nvPr>
        </p:nvSpPr>
        <p:spPr>
          <a:xfrm>
            <a:off x="2610700" y="1943170"/>
            <a:ext cx="1961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طراحی نرم افزار تولید و بهای تمام شده در کارخانه مازیار صنعت بابل</a:t>
            </a:r>
            <a:endParaRPr lang="fa-IR" dirty="0"/>
          </a:p>
        </p:txBody>
      </p:sp>
      <p:sp>
        <p:nvSpPr>
          <p:cNvPr id="256" name="Google Shape;256;p36"/>
          <p:cNvSpPr txBox="1">
            <a:spLocks noGrp="1"/>
          </p:cNvSpPr>
          <p:nvPr>
            <p:ph type="subTitle" idx="5"/>
          </p:nvPr>
        </p:nvSpPr>
        <p:spPr>
          <a:xfrm>
            <a:off x="4878076" y="1931881"/>
            <a:ext cx="1648200" cy="953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50 تاکسی اینترنتی در کشور به ابرلاین اعتماد کرده اند و در بعضی از شهرهای جنوبی رقیب اسنپ می باشد</a:t>
            </a:r>
            <a:endParaRPr lang="fa-IR" dirty="0"/>
          </a:p>
        </p:txBody>
      </p:sp>
      <p:sp>
        <p:nvSpPr>
          <p:cNvPr id="257" name="Google Shape;257;p36"/>
          <p:cNvSpPr txBox="1">
            <a:spLocks noGrp="1"/>
          </p:cNvSpPr>
          <p:nvPr>
            <p:ph type="ctrTitle" idx="2"/>
          </p:nvPr>
        </p:nvSpPr>
        <p:spPr>
          <a:xfrm>
            <a:off x="2650710" y="1394416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مازیار صنعت بابل</a:t>
            </a:r>
            <a:endParaRPr dirty="0"/>
          </a:p>
        </p:txBody>
      </p:sp>
      <p:sp>
        <p:nvSpPr>
          <p:cNvPr id="258" name="Google Shape;258;p36"/>
          <p:cNvSpPr txBox="1">
            <a:spLocks noGrp="1"/>
          </p:cNvSpPr>
          <p:nvPr>
            <p:ph type="ctrTitle" idx="4"/>
          </p:nvPr>
        </p:nvSpPr>
        <p:spPr>
          <a:xfrm>
            <a:off x="4638106" y="1394416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1828 بابل</a:t>
            </a:r>
            <a:endParaRPr dirty="0"/>
          </a:p>
        </p:txBody>
      </p:sp>
      <p:sp>
        <p:nvSpPr>
          <p:cNvPr id="259" name="Google Shape;259;p36"/>
          <p:cNvSpPr txBox="1">
            <a:spLocks noGrp="1"/>
          </p:cNvSpPr>
          <p:nvPr>
            <p:ph type="ctrTitle"/>
          </p:nvPr>
        </p:nvSpPr>
        <p:spPr>
          <a:xfrm>
            <a:off x="656422" y="1394416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نگارخودرو</a:t>
            </a:r>
            <a:endParaRPr dirty="0"/>
          </a:p>
        </p:txBody>
      </p:sp>
      <p:grpSp>
        <p:nvGrpSpPr>
          <p:cNvPr id="305" name="Google Shape;305;p36"/>
          <p:cNvGrpSpPr/>
          <p:nvPr/>
        </p:nvGrpSpPr>
        <p:grpSpPr>
          <a:xfrm>
            <a:off x="6057877" y="2961961"/>
            <a:ext cx="337070" cy="337040"/>
            <a:chOff x="1305327" y="2894211"/>
            <a:chExt cx="357520" cy="357488"/>
          </a:xfrm>
        </p:grpSpPr>
        <p:sp>
          <p:nvSpPr>
            <p:cNvPr id="306" name="Google Shape;306;p36"/>
            <p:cNvSpPr/>
            <p:nvPr/>
          </p:nvSpPr>
          <p:spPr>
            <a:xfrm>
              <a:off x="1305709" y="2975600"/>
              <a:ext cx="281379" cy="275336"/>
            </a:xfrm>
            <a:custGeom>
              <a:avLst/>
              <a:gdLst/>
              <a:ahLst/>
              <a:cxnLst/>
              <a:rect l="l" t="t" r="r" b="b"/>
              <a:pathLst>
                <a:path w="8847" h="8657" extrusionOk="0">
                  <a:moveTo>
                    <a:pt x="167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8085"/>
                  </a:lnTo>
                  <a:cubicBezTo>
                    <a:pt x="1" y="8395"/>
                    <a:pt x="262" y="8657"/>
                    <a:pt x="572" y="8657"/>
                  </a:cubicBezTo>
                  <a:lnTo>
                    <a:pt x="8680" y="8657"/>
                  </a:lnTo>
                  <a:cubicBezTo>
                    <a:pt x="8775" y="8657"/>
                    <a:pt x="8847" y="8573"/>
                    <a:pt x="8847" y="8490"/>
                  </a:cubicBezTo>
                  <a:cubicBezTo>
                    <a:pt x="8835" y="8395"/>
                    <a:pt x="8764" y="8323"/>
                    <a:pt x="8668" y="8323"/>
                  </a:cubicBezTo>
                  <a:lnTo>
                    <a:pt x="560" y="8323"/>
                  </a:lnTo>
                  <a:cubicBezTo>
                    <a:pt x="429" y="8323"/>
                    <a:pt x="334" y="8216"/>
                    <a:pt x="334" y="8097"/>
                  </a:cubicBezTo>
                  <a:lnTo>
                    <a:pt x="334" y="168"/>
                  </a:lnTo>
                  <a:cubicBezTo>
                    <a:pt x="334" y="84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6"/>
            <p:cNvSpPr/>
            <p:nvPr/>
          </p:nvSpPr>
          <p:spPr>
            <a:xfrm>
              <a:off x="1305327" y="2894211"/>
              <a:ext cx="357520" cy="357488"/>
            </a:xfrm>
            <a:custGeom>
              <a:avLst/>
              <a:gdLst/>
              <a:ahLst/>
              <a:cxnLst/>
              <a:rect l="l" t="t" r="r" b="b"/>
              <a:pathLst>
                <a:path w="11241" h="11240" extrusionOk="0">
                  <a:moveTo>
                    <a:pt x="572" y="0"/>
                  </a:moveTo>
                  <a:cubicBezTo>
                    <a:pt x="251" y="0"/>
                    <a:pt x="1" y="262"/>
                    <a:pt x="1" y="572"/>
                  </a:cubicBezTo>
                  <a:lnTo>
                    <a:pt x="1" y="2060"/>
                  </a:lnTo>
                  <a:cubicBezTo>
                    <a:pt x="1" y="2143"/>
                    <a:pt x="72" y="2215"/>
                    <a:pt x="167" y="2215"/>
                  </a:cubicBezTo>
                  <a:cubicBezTo>
                    <a:pt x="263" y="2215"/>
                    <a:pt x="334" y="2143"/>
                    <a:pt x="334" y="2060"/>
                  </a:cubicBezTo>
                  <a:lnTo>
                    <a:pt x="334" y="572"/>
                  </a:lnTo>
                  <a:cubicBezTo>
                    <a:pt x="334" y="417"/>
                    <a:pt x="453" y="333"/>
                    <a:pt x="572" y="333"/>
                  </a:cubicBezTo>
                  <a:cubicBezTo>
                    <a:pt x="620" y="333"/>
                    <a:pt x="679" y="345"/>
                    <a:pt x="739" y="405"/>
                  </a:cubicBezTo>
                  <a:lnTo>
                    <a:pt x="1048" y="714"/>
                  </a:lnTo>
                  <a:lnTo>
                    <a:pt x="596" y="1167"/>
                  </a:lnTo>
                  <a:cubicBezTo>
                    <a:pt x="501" y="1262"/>
                    <a:pt x="572" y="1441"/>
                    <a:pt x="715" y="1441"/>
                  </a:cubicBezTo>
                  <a:cubicBezTo>
                    <a:pt x="834" y="1441"/>
                    <a:pt x="858" y="1357"/>
                    <a:pt x="1286" y="953"/>
                  </a:cubicBezTo>
                  <a:lnTo>
                    <a:pt x="1822" y="1488"/>
                  </a:lnTo>
                  <a:lnTo>
                    <a:pt x="1644" y="1667"/>
                  </a:lnTo>
                  <a:cubicBezTo>
                    <a:pt x="1584" y="1726"/>
                    <a:pt x="1584" y="1834"/>
                    <a:pt x="1644" y="1905"/>
                  </a:cubicBezTo>
                  <a:cubicBezTo>
                    <a:pt x="1673" y="1935"/>
                    <a:pt x="1715" y="1950"/>
                    <a:pt x="1758" y="1950"/>
                  </a:cubicBezTo>
                  <a:cubicBezTo>
                    <a:pt x="1801" y="1950"/>
                    <a:pt x="1846" y="1935"/>
                    <a:pt x="1882" y="1905"/>
                  </a:cubicBezTo>
                  <a:lnTo>
                    <a:pt x="2060" y="1726"/>
                  </a:lnTo>
                  <a:lnTo>
                    <a:pt x="2596" y="2262"/>
                  </a:lnTo>
                  <a:lnTo>
                    <a:pt x="2144" y="2715"/>
                  </a:lnTo>
                  <a:cubicBezTo>
                    <a:pt x="2084" y="2774"/>
                    <a:pt x="2084" y="2881"/>
                    <a:pt x="2144" y="2953"/>
                  </a:cubicBezTo>
                  <a:cubicBezTo>
                    <a:pt x="2173" y="2983"/>
                    <a:pt x="2215" y="2997"/>
                    <a:pt x="2258" y="2997"/>
                  </a:cubicBezTo>
                  <a:cubicBezTo>
                    <a:pt x="2301" y="2997"/>
                    <a:pt x="2346" y="2983"/>
                    <a:pt x="2382" y="2953"/>
                  </a:cubicBezTo>
                  <a:lnTo>
                    <a:pt x="2834" y="2500"/>
                  </a:lnTo>
                  <a:lnTo>
                    <a:pt x="3370" y="3036"/>
                  </a:lnTo>
                  <a:lnTo>
                    <a:pt x="3191" y="3215"/>
                  </a:lnTo>
                  <a:cubicBezTo>
                    <a:pt x="3132" y="3274"/>
                    <a:pt x="3132" y="3381"/>
                    <a:pt x="3191" y="3453"/>
                  </a:cubicBezTo>
                  <a:cubicBezTo>
                    <a:pt x="3221" y="3483"/>
                    <a:pt x="3263" y="3498"/>
                    <a:pt x="3306" y="3498"/>
                  </a:cubicBezTo>
                  <a:cubicBezTo>
                    <a:pt x="3349" y="3498"/>
                    <a:pt x="3394" y="3483"/>
                    <a:pt x="3430" y="3453"/>
                  </a:cubicBezTo>
                  <a:lnTo>
                    <a:pt x="3608" y="3274"/>
                  </a:lnTo>
                  <a:lnTo>
                    <a:pt x="4144" y="3810"/>
                  </a:lnTo>
                  <a:lnTo>
                    <a:pt x="3692" y="4262"/>
                  </a:lnTo>
                  <a:cubicBezTo>
                    <a:pt x="3632" y="4322"/>
                    <a:pt x="3632" y="4429"/>
                    <a:pt x="3692" y="4501"/>
                  </a:cubicBezTo>
                  <a:cubicBezTo>
                    <a:pt x="3721" y="4530"/>
                    <a:pt x="3763" y="4545"/>
                    <a:pt x="3806" y="4545"/>
                  </a:cubicBezTo>
                  <a:cubicBezTo>
                    <a:pt x="3849" y="4545"/>
                    <a:pt x="3894" y="4530"/>
                    <a:pt x="3930" y="4501"/>
                  </a:cubicBezTo>
                  <a:lnTo>
                    <a:pt x="4382" y="4048"/>
                  </a:lnTo>
                  <a:lnTo>
                    <a:pt x="4918" y="4584"/>
                  </a:lnTo>
                  <a:lnTo>
                    <a:pt x="4739" y="4763"/>
                  </a:lnTo>
                  <a:cubicBezTo>
                    <a:pt x="4680" y="4822"/>
                    <a:pt x="4680" y="4929"/>
                    <a:pt x="4739" y="5001"/>
                  </a:cubicBezTo>
                  <a:cubicBezTo>
                    <a:pt x="4769" y="5030"/>
                    <a:pt x="4811" y="5045"/>
                    <a:pt x="4854" y="5045"/>
                  </a:cubicBezTo>
                  <a:cubicBezTo>
                    <a:pt x="4897" y="5045"/>
                    <a:pt x="4942" y="5030"/>
                    <a:pt x="4977" y="5001"/>
                  </a:cubicBezTo>
                  <a:lnTo>
                    <a:pt x="5156" y="4822"/>
                  </a:lnTo>
                  <a:lnTo>
                    <a:pt x="5692" y="5358"/>
                  </a:lnTo>
                  <a:lnTo>
                    <a:pt x="5239" y="5810"/>
                  </a:lnTo>
                  <a:cubicBezTo>
                    <a:pt x="5180" y="5870"/>
                    <a:pt x="5180" y="5977"/>
                    <a:pt x="5239" y="6048"/>
                  </a:cubicBezTo>
                  <a:cubicBezTo>
                    <a:pt x="5269" y="6078"/>
                    <a:pt x="5311" y="6093"/>
                    <a:pt x="5354" y="6093"/>
                  </a:cubicBezTo>
                  <a:cubicBezTo>
                    <a:pt x="5397" y="6093"/>
                    <a:pt x="5442" y="6078"/>
                    <a:pt x="5477" y="6048"/>
                  </a:cubicBezTo>
                  <a:lnTo>
                    <a:pt x="5930" y="5596"/>
                  </a:lnTo>
                  <a:lnTo>
                    <a:pt x="6466" y="6132"/>
                  </a:lnTo>
                  <a:lnTo>
                    <a:pt x="6287" y="6310"/>
                  </a:lnTo>
                  <a:cubicBezTo>
                    <a:pt x="6228" y="6370"/>
                    <a:pt x="6228" y="6477"/>
                    <a:pt x="6287" y="6548"/>
                  </a:cubicBezTo>
                  <a:cubicBezTo>
                    <a:pt x="6317" y="6578"/>
                    <a:pt x="6359" y="6593"/>
                    <a:pt x="6402" y="6593"/>
                  </a:cubicBezTo>
                  <a:cubicBezTo>
                    <a:pt x="6445" y="6593"/>
                    <a:pt x="6490" y="6578"/>
                    <a:pt x="6525" y="6548"/>
                  </a:cubicBezTo>
                  <a:lnTo>
                    <a:pt x="6704" y="6370"/>
                  </a:lnTo>
                  <a:lnTo>
                    <a:pt x="7240" y="6906"/>
                  </a:lnTo>
                  <a:lnTo>
                    <a:pt x="6787" y="7358"/>
                  </a:lnTo>
                  <a:cubicBezTo>
                    <a:pt x="6728" y="7418"/>
                    <a:pt x="6728" y="7525"/>
                    <a:pt x="6787" y="7596"/>
                  </a:cubicBezTo>
                  <a:cubicBezTo>
                    <a:pt x="6817" y="7626"/>
                    <a:pt x="6859" y="7641"/>
                    <a:pt x="6902" y="7641"/>
                  </a:cubicBezTo>
                  <a:cubicBezTo>
                    <a:pt x="6945" y="7641"/>
                    <a:pt x="6990" y="7626"/>
                    <a:pt x="7025" y="7596"/>
                  </a:cubicBezTo>
                  <a:lnTo>
                    <a:pt x="7478" y="7144"/>
                  </a:lnTo>
                  <a:lnTo>
                    <a:pt x="8014" y="7680"/>
                  </a:lnTo>
                  <a:lnTo>
                    <a:pt x="7763" y="7787"/>
                  </a:lnTo>
                  <a:cubicBezTo>
                    <a:pt x="7704" y="7846"/>
                    <a:pt x="7704" y="7953"/>
                    <a:pt x="7763" y="8025"/>
                  </a:cubicBezTo>
                  <a:cubicBezTo>
                    <a:pt x="7787" y="8055"/>
                    <a:pt x="7826" y="8069"/>
                    <a:pt x="7869" y="8069"/>
                  </a:cubicBezTo>
                  <a:cubicBezTo>
                    <a:pt x="7912" y="8069"/>
                    <a:pt x="7960" y="8055"/>
                    <a:pt x="8002" y="8025"/>
                  </a:cubicBezTo>
                  <a:lnTo>
                    <a:pt x="8180" y="7846"/>
                  </a:lnTo>
                  <a:lnTo>
                    <a:pt x="8716" y="8382"/>
                  </a:lnTo>
                  <a:lnTo>
                    <a:pt x="8264" y="8834"/>
                  </a:lnTo>
                  <a:cubicBezTo>
                    <a:pt x="8204" y="8894"/>
                    <a:pt x="8204" y="8989"/>
                    <a:pt x="8264" y="9073"/>
                  </a:cubicBezTo>
                  <a:cubicBezTo>
                    <a:pt x="8293" y="9102"/>
                    <a:pt x="8335" y="9117"/>
                    <a:pt x="8378" y="9117"/>
                  </a:cubicBezTo>
                  <a:cubicBezTo>
                    <a:pt x="8421" y="9117"/>
                    <a:pt x="8466" y="9102"/>
                    <a:pt x="8502" y="9073"/>
                  </a:cubicBezTo>
                  <a:lnTo>
                    <a:pt x="8954" y="8620"/>
                  </a:lnTo>
                  <a:lnTo>
                    <a:pt x="9490" y="9156"/>
                  </a:lnTo>
                  <a:lnTo>
                    <a:pt x="9311" y="9335"/>
                  </a:lnTo>
                  <a:cubicBezTo>
                    <a:pt x="9252" y="9394"/>
                    <a:pt x="9252" y="9501"/>
                    <a:pt x="9311" y="9573"/>
                  </a:cubicBezTo>
                  <a:cubicBezTo>
                    <a:pt x="9335" y="9608"/>
                    <a:pt x="9383" y="9620"/>
                    <a:pt x="9430" y="9620"/>
                  </a:cubicBezTo>
                  <a:cubicBezTo>
                    <a:pt x="9466" y="9620"/>
                    <a:pt x="9514" y="9608"/>
                    <a:pt x="9549" y="9573"/>
                  </a:cubicBezTo>
                  <a:lnTo>
                    <a:pt x="9728" y="9394"/>
                  </a:lnTo>
                  <a:lnTo>
                    <a:pt x="10264" y="9930"/>
                  </a:lnTo>
                  <a:lnTo>
                    <a:pt x="9811" y="10382"/>
                  </a:lnTo>
                  <a:cubicBezTo>
                    <a:pt x="9752" y="10442"/>
                    <a:pt x="9752" y="10537"/>
                    <a:pt x="9811" y="10620"/>
                  </a:cubicBezTo>
                  <a:cubicBezTo>
                    <a:pt x="9847" y="10644"/>
                    <a:pt x="9883" y="10656"/>
                    <a:pt x="9930" y="10656"/>
                  </a:cubicBezTo>
                  <a:cubicBezTo>
                    <a:pt x="9978" y="10656"/>
                    <a:pt x="10026" y="10644"/>
                    <a:pt x="10049" y="10620"/>
                  </a:cubicBezTo>
                  <a:lnTo>
                    <a:pt x="10502" y="10168"/>
                  </a:lnTo>
                  <a:lnTo>
                    <a:pt x="10835" y="10513"/>
                  </a:lnTo>
                  <a:cubicBezTo>
                    <a:pt x="10895" y="10573"/>
                    <a:pt x="10919" y="10632"/>
                    <a:pt x="10919" y="10680"/>
                  </a:cubicBezTo>
                  <a:cubicBezTo>
                    <a:pt x="10919" y="10799"/>
                    <a:pt x="10823" y="10918"/>
                    <a:pt x="10681" y="10918"/>
                  </a:cubicBezTo>
                  <a:lnTo>
                    <a:pt x="9395" y="10918"/>
                  </a:lnTo>
                  <a:cubicBezTo>
                    <a:pt x="9311" y="10918"/>
                    <a:pt x="9228" y="10989"/>
                    <a:pt x="9228" y="11073"/>
                  </a:cubicBezTo>
                  <a:cubicBezTo>
                    <a:pt x="9228" y="11168"/>
                    <a:pt x="9311" y="11240"/>
                    <a:pt x="9395" y="11240"/>
                  </a:cubicBezTo>
                  <a:lnTo>
                    <a:pt x="10681" y="11240"/>
                  </a:lnTo>
                  <a:cubicBezTo>
                    <a:pt x="10990" y="11240"/>
                    <a:pt x="11240" y="10989"/>
                    <a:pt x="11240" y="10680"/>
                  </a:cubicBezTo>
                  <a:cubicBezTo>
                    <a:pt x="11192" y="10501"/>
                    <a:pt x="11133" y="10358"/>
                    <a:pt x="11038" y="10239"/>
                  </a:cubicBezTo>
                  <a:lnTo>
                    <a:pt x="965" y="167"/>
                  </a:lnTo>
                  <a:cubicBezTo>
                    <a:pt x="870" y="60"/>
                    <a:pt x="715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6"/>
            <p:cNvSpPr/>
            <p:nvPr/>
          </p:nvSpPr>
          <p:spPr>
            <a:xfrm>
              <a:off x="1366679" y="3029191"/>
              <a:ext cx="57981" cy="70289"/>
            </a:xfrm>
            <a:custGeom>
              <a:avLst/>
              <a:gdLst/>
              <a:ahLst/>
              <a:cxnLst/>
              <a:rect l="l" t="t" r="r" b="b"/>
              <a:pathLst>
                <a:path w="1823" h="2210" extrusionOk="0">
                  <a:moveTo>
                    <a:pt x="164" y="1"/>
                  </a:moveTo>
                  <a:cubicBezTo>
                    <a:pt x="140" y="1"/>
                    <a:pt x="116" y="6"/>
                    <a:pt x="96" y="18"/>
                  </a:cubicBezTo>
                  <a:cubicBezTo>
                    <a:pt x="36" y="42"/>
                    <a:pt x="0" y="102"/>
                    <a:pt x="0" y="161"/>
                  </a:cubicBezTo>
                  <a:lnTo>
                    <a:pt x="0" y="2043"/>
                  </a:lnTo>
                  <a:cubicBezTo>
                    <a:pt x="0" y="2126"/>
                    <a:pt x="72" y="2209"/>
                    <a:pt x="155" y="2209"/>
                  </a:cubicBezTo>
                  <a:cubicBezTo>
                    <a:pt x="250" y="2209"/>
                    <a:pt x="322" y="2126"/>
                    <a:pt x="322" y="2043"/>
                  </a:cubicBezTo>
                  <a:lnTo>
                    <a:pt x="322" y="566"/>
                  </a:lnTo>
                  <a:lnTo>
                    <a:pt x="1513" y="1757"/>
                  </a:lnTo>
                  <a:cubicBezTo>
                    <a:pt x="1542" y="1787"/>
                    <a:pt x="1584" y="1801"/>
                    <a:pt x="1627" y="1801"/>
                  </a:cubicBezTo>
                  <a:cubicBezTo>
                    <a:pt x="1670" y="1801"/>
                    <a:pt x="1715" y="1787"/>
                    <a:pt x="1751" y="1757"/>
                  </a:cubicBezTo>
                  <a:cubicBezTo>
                    <a:pt x="1822" y="1697"/>
                    <a:pt x="1810" y="1590"/>
                    <a:pt x="1751" y="1519"/>
                  </a:cubicBezTo>
                  <a:lnTo>
                    <a:pt x="274" y="42"/>
                  </a:lnTo>
                  <a:cubicBezTo>
                    <a:pt x="251" y="19"/>
                    <a:pt x="208" y="1"/>
                    <a:pt x="1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6"/>
            <p:cNvSpPr/>
            <p:nvPr/>
          </p:nvSpPr>
          <p:spPr>
            <a:xfrm>
              <a:off x="1428031" y="3091211"/>
              <a:ext cx="100377" cy="99518"/>
            </a:xfrm>
            <a:custGeom>
              <a:avLst/>
              <a:gdLst/>
              <a:ahLst/>
              <a:cxnLst/>
              <a:rect l="l" t="t" r="r" b="b"/>
              <a:pathLst>
                <a:path w="3156" h="3129" extrusionOk="0">
                  <a:moveTo>
                    <a:pt x="183" y="0"/>
                  </a:moveTo>
                  <a:cubicBezTo>
                    <a:pt x="140" y="0"/>
                    <a:pt x="95" y="15"/>
                    <a:pt x="60" y="45"/>
                  </a:cubicBezTo>
                  <a:cubicBezTo>
                    <a:pt x="0" y="104"/>
                    <a:pt x="0" y="212"/>
                    <a:pt x="60" y="283"/>
                  </a:cubicBezTo>
                  <a:lnTo>
                    <a:pt x="2572" y="2795"/>
                  </a:lnTo>
                  <a:lnTo>
                    <a:pt x="655" y="2795"/>
                  </a:lnTo>
                  <a:cubicBezTo>
                    <a:pt x="560" y="2795"/>
                    <a:pt x="488" y="2879"/>
                    <a:pt x="488" y="2962"/>
                  </a:cubicBezTo>
                  <a:cubicBezTo>
                    <a:pt x="488" y="3057"/>
                    <a:pt x="560" y="3129"/>
                    <a:pt x="655" y="3129"/>
                  </a:cubicBezTo>
                  <a:lnTo>
                    <a:pt x="2977" y="3129"/>
                  </a:lnTo>
                  <a:cubicBezTo>
                    <a:pt x="3048" y="3129"/>
                    <a:pt x="3108" y="3081"/>
                    <a:pt x="3132" y="3021"/>
                  </a:cubicBezTo>
                  <a:cubicBezTo>
                    <a:pt x="3155" y="2962"/>
                    <a:pt x="3143" y="2902"/>
                    <a:pt x="3096" y="2843"/>
                  </a:cubicBezTo>
                  <a:lnTo>
                    <a:pt x="298" y="45"/>
                  </a:lnTo>
                  <a:cubicBezTo>
                    <a:pt x="268" y="15"/>
                    <a:pt x="226" y="0"/>
                    <a:pt x="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6"/>
            <p:cNvSpPr/>
            <p:nvPr/>
          </p:nvSpPr>
          <p:spPr>
            <a:xfrm>
              <a:off x="1366297" y="3110040"/>
              <a:ext cx="66663" cy="80689"/>
            </a:xfrm>
            <a:custGeom>
              <a:avLst/>
              <a:gdLst/>
              <a:ahLst/>
              <a:cxnLst/>
              <a:rect l="l" t="t" r="r" b="b"/>
              <a:pathLst>
                <a:path w="2096" h="2537" extrusionOk="0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2370"/>
                  </a:lnTo>
                  <a:cubicBezTo>
                    <a:pt x="1" y="2418"/>
                    <a:pt x="24" y="2453"/>
                    <a:pt x="48" y="2489"/>
                  </a:cubicBezTo>
                  <a:cubicBezTo>
                    <a:pt x="84" y="2513"/>
                    <a:pt x="120" y="2537"/>
                    <a:pt x="167" y="2537"/>
                  </a:cubicBezTo>
                  <a:lnTo>
                    <a:pt x="1929" y="2537"/>
                  </a:lnTo>
                  <a:cubicBezTo>
                    <a:pt x="2013" y="2537"/>
                    <a:pt x="2096" y="2453"/>
                    <a:pt x="2096" y="2370"/>
                  </a:cubicBezTo>
                  <a:cubicBezTo>
                    <a:pt x="2096" y="2287"/>
                    <a:pt x="2013" y="2203"/>
                    <a:pt x="1929" y="2203"/>
                  </a:cubicBezTo>
                  <a:lnTo>
                    <a:pt x="334" y="2203"/>
                  </a:ln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p36"/>
          <p:cNvSpPr txBox="1">
            <a:spLocks noGrp="1"/>
          </p:cNvSpPr>
          <p:nvPr>
            <p:ph type="ctrTitle" idx="7"/>
          </p:nvPr>
        </p:nvSpPr>
        <p:spPr>
          <a:xfrm>
            <a:off x="656422" y="3367816"/>
            <a:ext cx="1954198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رستوران نارون</a:t>
            </a:r>
            <a:endParaRPr dirty="0"/>
          </a:p>
        </p:txBody>
      </p:sp>
      <p:sp>
        <p:nvSpPr>
          <p:cNvPr id="312" name="Google Shape;312;p36"/>
          <p:cNvSpPr txBox="1">
            <a:spLocks noGrp="1"/>
          </p:cNvSpPr>
          <p:nvPr>
            <p:ph type="subTitle" idx="8"/>
          </p:nvPr>
        </p:nvSpPr>
        <p:spPr>
          <a:xfrm>
            <a:off x="656425" y="3905281"/>
            <a:ext cx="1563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طراحی منوی دیجیتال و باشگاه مشتریان </a:t>
            </a:r>
            <a:endParaRPr lang="fa-IR" dirty="0"/>
          </a:p>
        </p:txBody>
      </p:sp>
      <p:sp>
        <p:nvSpPr>
          <p:cNvPr id="313" name="Google Shape;313;p36"/>
          <p:cNvSpPr txBox="1">
            <a:spLocks noGrp="1"/>
          </p:cNvSpPr>
          <p:nvPr>
            <p:ph type="ctrTitle" idx="9"/>
          </p:nvPr>
        </p:nvSpPr>
        <p:spPr>
          <a:xfrm>
            <a:off x="2650710" y="3367816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مبلمان  لاوین</a:t>
            </a:r>
            <a:endParaRPr dirty="0"/>
          </a:p>
        </p:txBody>
      </p:sp>
      <p:sp>
        <p:nvSpPr>
          <p:cNvPr id="314" name="Google Shape;314;p36"/>
          <p:cNvSpPr txBox="1">
            <a:spLocks noGrp="1"/>
          </p:cNvSpPr>
          <p:nvPr>
            <p:ph type="subTitle" idx="13"/>
          </p:nvPr>
        </p:nvSpPr>
        <p:spPr>
          <a:xfrm>
            <a:off x="2610700" y="3916570"/>
            <a:ext cx="1961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طراحی سی ار ام مشتریان و وب سایت شرکت</a:t>
            </a:r>
            <a:endParaRPr lang="fa-IR" dirty="0"/>
          </a:p>
        </p:txBody>
      </p:sp>
      <p:sp>
        <p:nvSpPr>
          <p:cNvPr id="315" name="Google Shape;315;p36"/>
          <p:cNvSpPr txBox="1">
            <a:spLocks noGrp="1"/>
          </p:cNvSpPr>
          <p:nvPr>
            <p:ph type="ctrTitle" idx="14"/>
          </p:nvPr>
        </p:nvSpPr>
        <p:spPr>
          <a:xfrm>
            <a:off x="4638106" y="3367816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مبلمان فوکا</a:t>
            </a:r>
            <a:endParaRPr dirty="0"/>
          </a:p>
        </p:txBody>
      </p:sp>
      <p:sp>
        <p:nvSpPr>
          <p:cNvPr id="316" name="Google Shape;316;p36"/>
          <p:cNvSpPr txBox="1">
            <a:spLocks noGrp="1"/>
          </p:cNvSpPr>
          <p:nvPr>
            <p:ph type="subTitle" idx="15"/>
          </p:nvPr>
        </p:nvSpPr>
        <p:spPr>
          <a:xfrm>
            <a:off x="4878076" y="3905281"/>
            <a:ext cx="1648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طراحی پلتفرم کامل فروش و تولید </a:t>
            </a:r>
            <a:endParaRPr lang="fa-IR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075" y="2930174"/>
            <a:ext cx="662766" cy="6130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801" y="2836385"/>
            <a:ext cx="836914" cy="6581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53" y="2865931"/>
            <a:ext cx="1234697" cy="6285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176" y="603181"/>
            <a:ext cx="901859" cy="9018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055" y="639581"/>
            <a:ext cx="829057" cy="8290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71" y="520948"/>
            <a:ext cx="1002489" cy="10024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 rotWithShape="1">
          <a:blip r:embed="rId3">
            <a:alphaModFix/>
          </a:blip>
          <a:srcRect l="25616" r="25616"/>
          <a:stretch/>
        </p:blipFill>
        <p:spPr>
          <a:xfrm>
            <a:off x="5381625" y="0"/>
            <a:ext cx="376237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/>
          <p:nvPr/>
        </p:nvSpPr>
        <p:spPr>
          <a:xfrm>
            <a:off x="4819650" y="1577400"/>
            <a:ext cx="2991000" cy="19887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181050" y="964400"/>
            <a:ext cx="4457549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a-IR" dirty="0"/>
              <a:t>قرار، یک قدم </a:t>
            </a:r>
            <a:r>
              <a:rPr lang="fa-IR" dirty="0" smtClean="0"/>
              <a:t>برای مدیریت </a:t>
            </a:r>
            <a:r>
              <a:rPr lang="fa-IR" dirty="0"/>
              <a:t>بهتر پسماند بابل</a:t>
            </a:r>
          </a:p>
        </p:txBody>
      </p:sp>
      <p:sp>
        <p:nvSpPr>
          <p:cNvPr id="167" name="Google Shape;167;p27"/>
          <p:cNvSpPr/>
          <p:nvPr/>
        </p:nvSpPr>
        <p:spPr>
          <a:xfrm>
            <a:off x="0" y="1577400"/>
            <a:ext cx="362100" cy="19887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60A4B62-D2F1-4428-4915-597815E8B543}"/>
              </a:ext>
            </a:extLst>
          </p:cNvPr>
          <p:cNvSpPr txBox="1"/>
          <p:nvPr/>
        </p:nvSpPr>
        <p:spPr>
          <a:xfrm>
            <a:off x="692561" y="1958960"/>
            <a:ext cx="398993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1600" dirty="0">
                <a:cs typeface="B Nazanin" panose="00000400000000000000" pitchFamily="2" charset="-78"/>
              </a:rPr>
              <a:t>«قرار» یک کمپین شهری برای ایجاد فرهنگ درست مدیریت پسماند و تفکیک از مبدا در بابل است؛ مسیری که با مشارکت شهروندان شکل می‌گیرد و با استفاده از راهکارهای هوشمند، فرایند جمع‌آوری و مدیریت پسماند را ساده‌تر و منظم‌تر می‌کند. قرار می‌خواهد این تغییر را از یک رفتار ساده، در خانه‌های ما شروع کند، و به یک فرهنگ جمعی در شهر تبدیل کند.</a:t>
            </a:r>
            <a:endParaRPr lang="fa-IR" sz="1600" dirty="0">
              <a:solidFill>
                <a:schemeClr val="tx1">
                  <a:lumMod val="95000"/>
                  <a:lumOff val="5000"/>
                </a:schemeClr>
              </a:solidFill>
              <a:latin typeface="Shabnam" panose="020B0603030804020204" pitchFamily="34" charset="-78"/>
              <a:cs typeface="B Nazanin" panose="00000400000000000000" pitchFamily="2" charset="-78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375" y="2043213"/>
            <a:ext cx="1851550" cy="11597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>
            <a:spLocks noGrp="1"/>
          </p:cNvSpPr>
          <p:nvPr>
            <p:ph type="ctrTitle" idx="6"/>
          </p:nvPr>
        </p:nvSpPr>
        <p:spPr>
          <a:xfrm rot="5400000">
            <a:off x="6609943" y="2389482"/>
            <a:ext cx="3628732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معرفی پلتفرم نرم افزاری قرار</a:t>
            </a:r>
            <a:endParaRPr dirty="0"/>
          </a:p>
        </p:txBody>
      </p:sp>
      <p:sp>
        <p:nvSpPr>
          <p:cNvPr id="173" name="Google Shape;173;p28"/>
          <p:cNvSpPr/>
          <p:nvPr/>
        </p:nvSpPr>
        <p:spPr>
          <a:xfrm>
            <a:off x="0" y="0"/>
            <a:ext cx="3607500" cy="26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8"/>
          <p:cNvSpPr/>
          <p:nvPr/>
        </p:nvSpPr>
        <p:spPr>
          <a:xfrm>
            <a:off x="3607486" y="-25500"/>
            <a:ext cx="3607500" cy="263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8"/>
          <p:cNvSpPr/>
          <p:nvPr/>
        </p:nvSpPr>
        <p:spPr>
          <a:xfrm>
            <a:off x="0" y="2632200"/>
            <a:ext cx="3607500" cy="251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8"/>
          <p:cNvSpPr/>
          <p:nvPr/>
        </p:nvSpPr>
        <p:spPr>
          <a:xfrm>
            <a:off x="3607473" y="2632200"/>
            <a:ext cx="3607500" cy="251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subTitle" idx="1"/>
          </p:nvPr>
        </p:nvSpPr>
        <p:spPr>
          <a:xfrm>
            <a:off x="631884" y="1410840"/>
            <a:ext cx="2480700" cy="917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مدیریت کل سیستم و مانیتورینگ سفیرهای جمع آوری </a:t>
            </a:r>
            <a:r>
              <a:rPr lang="fa-IR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پسماند و گزارش موجودی و دسترسی به نهادهای مربوطه</a:t>
            </a:r>
            <a:endParaRPr dirty="0"/>
          </a:p>
        </p:txBody>
      </p:sp>
      <p:sp>
        <p:nvSpPr>
          <p:cNvPr id="178" name="Google Shape;178;p28"/>
          <p:cNvSpPr txBox="1">
            <a:spLocks noGrp="1"/>
          </p:cNvSpPr>
          <p:nvPr>
            <p:ph type="subTitle" idx="3"/>
          </p:nvPr>
        </p:nvSpPr>
        <p:spPr>
          <a:xfrm>
            <a:off x="4213664" y="1410841"/>
            <a:ext cx="2586000" cy="1274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>
                <a:solidFill>
                  <a:schemeClr val="lt1"/>
                </a:solidFill>
              </a:rPr>
              <a:t>ثبت درخواست جمع آوری پسماند و باشگاه مشتریان و گزارش تحویل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9" name="Google Shape;179;p28"/>
          <p:cNvSpPr txBox="1">
            <a:spLocks noGrp="1"/>
          </p:cNvSpPr>
          <p:nvPr>
            <p:ph type="subTitle" idx="5"/>
          </p:nvPr>
        </p:nvSpPr>
        <p:spPr>
          <a:xfrm>
            <a:off x="631884" y="3914208"/>
            <a:ext cx="2480700" cy="9819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>
                <a:solidFill>
                  <a:schemeClr val="lt1"/>
                </a:solidFill>
              </a:rPr>
              <a:t>نمایش درخواست های ثبت شده توسط شهروند و زمانبدی جمع آوری به صورت هوشمند با هوش مصنوعی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80" name="Google Shape;180;p28"/>
          <p:cNvSpPr txBox="1">
            <a:spLocks noGrp="1"/>
          </p:cNvSpPr>
          <p:nvPr>
            <p:ph type="ctrTitle" idx="2"/>
          </p:nvPr>
        </p:nvSpPr>
        <p:spPr>
          <a:xfrm>
            <a:off x="3607473" y="842025"/>
            <a:ext cx="3607473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>
                <a:solidFill>
                  <a:schemeClr val="lt1"/>
                </a:solidFill>
              </a:rPr>
              <a:t>اپلیکیشن شهروند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81" name="Google Shape;181;p28"/>
          <p:cNvSpPr txBox="1">
            <a:spLocks noGrp="1"/>
          </p:cNvSpPr>
          <p:nvPr>
            <p:ph type="ctrTitle" idx="4"/>
          </p:nvPr>
        </p:nvSpPr>
        <p:spPr>
          <a:xfrm>
            <a:off x="0" y="3331927"/>
            <a:ext cx="3607419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>
                <a:solidFill>
                  <a:schemeClr val="lt1"/>
                </a:solidFill>
              </a:rPr>
              <a:t>اپلیکیشن سفیر</a:t>
            </a:r>
            <a:endParaRPr lang="fa-IR" dirty="0">
              <a:solidFill>
                <a:schemeClr val="lt1"/>
              </a:solidFill>
            </a:endParaRPr>
          </a:p>
        </p:txBody>
      </p:sp>
      <p:sp>
        <p:nvSpPr>
          <p:cNvPr id="182" name="Google Shape;182;p28"/>
          <p:cNvSpPr txBox="1">
            <a:spLocks noGrp="1"/>
          </p:cNvSpPr>
          <p:nvPr>
            <p:ph type="ctrTitle"/>
          </p:nvPr>
        </p:nvSpPr>
        <p:spPr>
          <a:xfrm>
            <a:off x="0" y="842025"/>
            <a:ext cx="3607473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پرتال مدیریتی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83" name="Google Shape;183;p28"/>
          <p:cNvSpPr txBox="1">
            <a:spLocks noGrp="1"/>
          </p:cNvSpPr>
          <p:nvPr>
            <p:ph type="ctrTitle" idx="7"/>
          </p:nvPr>
        </p:nvSpPr>
        <p:spPr>
          <a:xfrm>
            <a:off x="3607446" y="3331934"/>
            <a:ext cx="36075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شماره تماس 01135003</a:t>
            </a:r>
            <a:endParaRPr dirty="0"/>
          </a:p>
        </p:txBody>
      </p:sp>
      <p:sp>
        <p:nvSpPr>
          <p:cNvPr id="184" name="Google Shape;184;p28"/>
          <p:cNvSpPr txBox="1">
            <a:spLocks noGrp="1"/>
          </p:cNvSpPr>
          <p:nvPr>
            <p:ph type="subTitle" idx="8"/>
          </p:nvPr>
        </p:nvSpPr>
        <p:spPr>
          <a:xfrm>
            <a:off x="4213664" y="3914208"/>
            <a:ext cx="2586000" cy="1274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habnam" panose="020B0603030804020204" pitchFamily="34" charset="-78"/>
                <a:cs typeface="Shabnam" panose="020B0603030804020204" pitchFamily="34" charset="-78"/>
              </a:rPr>
              <a:t>ثبت اتومات درخواست جمع آوری پسماند و ارجاع به سفیر مربوطه با ساختار ویپ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/>
          <p:nvPr/>
        </p:nvSpPr>
        <p:spPr>
          <a:xfrm rot="-5400000">
            <a:off x="6349650" y="643825"/>
            <a:ext cx="1057500" cy="31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3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25" y="381983"/>
            <a:ext cx="4224899" cy="428493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 txBox="1">
            <a:spLocks noGrp="1"/>
          </p:cNvSpPr>
          <p:nvPr>
            <p:ph type="ctrTitle"/>
          </p:nvPr>
        </p:nvSpPr>
        <p:spPr>
          <a:xfrm>
            <a:off x="5432000" y="1667125"/>
            <a:ext cx="2888100" cy="10976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>
                <a:solidFill>
                  <a:schemeClr val="lt1"/>
                </a:solidFill>
              </a:rPr>
              <a:t>معماری فنی قرار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206" name="Google Shape;206;p30"/>
          <p:cNvSpPr txBox="1">
            <a:spLocks noGrp="1"/>
          </p:cNvSpPr>
          <p:nvPr>
            <p:ph type="subTitle" idx="1"/>
          </p:nvPr>
        </p:nvSpPr>
        <p:spPr>
          <a:xfrm>
            <a:off x="5363550" y="2724625"/>
            <a:ext cx="30669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براساس تصویر روبه رو پس از درخواست شهروند سرور اطلاعات ارسالی را بررسی کرده و به سفیر مربوطه ارجاع میدهد و پس از جمع آوری در پرتال مدیریتی قابلیت گزارش گیری را دارد و شهروندان نیز در باشگاه مشتریان اعتبارشان افزایش می یابد</a:t>
            </a:r>
            <a:endParaRPr lang="fa-I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/>
          <p:nvPr/>
        </p:nvSpPr>
        <p:spPr>
          <a:xfrm rot="-5400000">
            <a:off x="6349650" y="643825"/>
            <a:ext cx="1057500" cy="31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3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24" y="381983"/>
            <a:ext cx="4157500" cy="428493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 txBox="1">
            <a:spLocks noGrp="1"/>
          </p:cNvSpPr>
          <p:nvPr>
            <p:ph type="ctrTitle"/>
          </p:nvPr>
        </p:nvSpPr>
        <p:spPr>
          <a:xfrm>
            <a:off x="5432000" y="1667125"/>
            <a:ext cx="2888100" cy="10976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dirty="0" smtClean="0">
                <a:solidFill>
                  <a:schemeClr val="lt1"/>
                </a:solidFill>
              </a:rPr>
              <a:t>نقش و سطح دسترسی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206" name="Google Shape;206;p30"/>
          <p:cNvSpPr txBox="1">
            <a:spLocks noGrp="1"/>
          </p:cNvSpPr>
          <p:nvPr>
            <p:ph type="subTitle" idx="1"/>
          </p:nvPr>
        </p:nvSpPr>
        <p:spPr>
          <a:xfrm>
            <a:off x="5363550" y="2724625"/>
            <a:ext cx="30669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براساس تصویر روبه رو مدیر ارشد و بالاترین سطح قرار دارد و دهیاری و بخشداری و شهرداری نیز دسترسی هایی به داده های سیستم دارند و قابلیت کامل گزارش گیری وجود دارد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74298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/>
          <p:nvPr/>
        </p:nvSpPr>
        <p:spPr>
          <a:xfrm rot="-5400000">
            <a:off x="6349650" y="643825"/>
            <a:ext cx="1057500" cy="31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3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24" y="392398"/>
            <a:ext cx="4157500" cy="426410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 txBox="1">
            <a:spLocks noGrp="1"/>
          </p:cNvSpPr>
          <p:nvPr>
            <p:ph type="ctrTitle"/>
          </p:nvPr>
        </p:nvSpPr>
        <p:spPr>
          <a:xfrm>
            <a:off x="5432000" y="1667125"/>
            <a:ext cx="2888100" cy="10976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dirty="0" smtClean="0">
                <a:solidFill>
                  <a:schemeClr val="lt1"/>
                </a:solidFill>
              </a:rPr>
              <a:t>گردش کار جمع آوری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206" name="Google Shape;206;p30"/>
          <p:cNvSpPr txBox="1">
            <a:spLocks noGrp="1"/>
          </p:cNvSpPr>
          <p:nvPr>
            <p:ph type="subTitle" idx="1"/>
          </p:nvPr>
        </p:nvSpPr>
        <p:spPr>
          <a:xfrm>
            <a:off x="5363550" y="2724625"/>
            <a:ext cx="30669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براساس تصویر روبه رو ثبت درخواست انجام میگیرد و درخواست به سفیر مربوطه ارسال میگردد و جمع آوری انجام میگیرد به همراه ثبت تصاویر و در نهایت شهروند امتیاز خود را دریافت میکند .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16163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1"/>
          <p:cNvSpPr txBox="1">
            <a:spLocks noGrp="1"/>
          </p:cNvSpPr>
          <p:nvPr>
            <p:ph type="subTitle" idx="1"/>
          </p:nvPr>
        </p:nvSpPr>
        <p:spPr>
          <a:xfrm>
            <a:off x="2258125" y="3106325"/>
            <a:ext cx="3029100" cy="10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fa-IR" dirty="0">
                <a:solidFill>
                  <a:schemeClr val="lt1"/>
                </a:solidFill>
              </a:rPr>
              <a:t>لورم ایپسوم متن ساختگی با تولید سادگی نامفهوم از صنعت چاپ و با استفاده از طراحان گرافیک است. </a:t>
            </a:r>
          </a:p>
        </p:txBody>
      </p:sp>
      <p:pic>
        <p:nvPicPr>
          <p:cNvPr id="379" name="Google Shape;379;p41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50" y="276636"/>
            <a:ext cx="3899500" cy="411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1"/>
          <p:cNvSpPr txBox="1">
            <a:spLocks noGrp="1"/>
          </p:cNvSpPr>
          <p:nvPr>
            <p:ph type="ctrTitle"/>
          </p:nvPr>
        </p:nvSpPr>
        <p:spPr>
          <a:xfrm rot="5400000">
            <a:off x="5705978" y="2328000"/>
            <a:ext cx="4861114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هوش مصنوعی</a:t>
            </a:r>
            <a:endParaRPr dirty="0"/>
          </a:p>
        </p:txBody>
      </p:sp>
      <p:sp>
        <p:nvSpPr>
          <p:cNvPr id="381" name="Google Shape;381;p41"/>
          <p:cNvSpPr/>
          <p:nvPr/>
        </p:nvSpPr>
        <p:spPr>
          <a:xfrm>
            <a:off x="-165700" y="540000"/>
            <a:ext cx="2320200" cy="138600"/>
          </a:xfrm>
          <a:prstGeom prst="rect">
            <a:avLst/>
          </a:prstGeom>
          <a:solidFill>
            <a:srgbClr val="CFC3AC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41"/>
          <p:cNvSpPr/>
          <p:nvPr/>
        </p:nvSpPr>
        <p:spPr>
          <a:xfrm>
            <a:off x="1822150" y="4067996"/>
            <a:ext cx="3848495" cy="107550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dirty="0" smtClean="0">
                <a:solidFill>
                  <a:schemeClr val="bg1"/>
                </a:solidFill>
                <a:latin typeface="Estedad Black" panose="020B0604020202020204" charset="-78"/>
                <a:cs typeface="Estedad Black" panose="020B0604020202020204" charset="-78"/>
              </a:rPr>
              <a:t>تشخیص نوع پسماند با هوش مصنوعی و راهنمایی به شهروند</a:t>
            </a:r>
            <a:endParaRPr sz="1600" dirty="0">
              <a:solidFill>
                <a:schemeClr val="bg1"/>
              </a:solidFill>
              <a:latin typeface="Estedad Black" panose="020B0604020202020204" charset="-78"/>
              <a:cs typeface="Estedad Black" panose="020B0604020202020204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"/>
          <p:cNvSpPr txBox="1">
            <a:spLocks noGrp="1"/>
          </p:cNvSpPr>
          <p:nvPr>
            <p:ph type="ctrTitle" idx="4"/>
          </p:nvPr>
        </p:nvSpPr>
        <p:spPr>
          <a:xfrm rot="5400000">
            <a:off x="5871462" y="2328000"/>
            <a:ext cx="4710126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تصاویر اپ شهروند و سفیر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16" y="0"/>
            <a:ext cx="2620708" cy="49131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967" y="472475"/>
            <a:ext cx="2092018" cy="43109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6699" y="472475"/>
            <a:ext cx="2059063" cy="42517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"/>
          <p:cNvSpPr txBox="1">
            <a:spLocks noGrp="1"/>
          </p:cNvSpPr>
          <p:nvPr>
            <p:ph type="ctrTitle" idx="4"/>
          </p:nvPr>
        </p:nvSpPr>
        <p:spPr>
          <a:xfrm rot="5400000">
            <a:off x="5871462" y="2328000"/>
            <a:ext cx="4710126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تصاویر اپ شهروند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65" y="115153"/>
            <a:ext cx="2366006" cy="49131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478" y="115153"/>
            <a:ext cx="2211513" cy="48594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378" y="115153"/>
            <a:ext cx="2248311" cy="485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1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"/>
          <p:cNvSpPr txBox="1">
            <a:spLocks noGrp="1"/>
          </p:cNvSpPr>
          <p:nvPr>
            <p:ph type="ctrTitle" idx="4"/>
          </p:nvPr>
        </p:nvSpPr>
        <p:spPr>
          <a:xfrm rot="5400000">
            <a:off x="5871462" y="2328000"/>
            <a:ext cx="4710126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 smtClean="0"/>
              <a:t>تصاویر اپ شهروند و سفیر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22" y="115153"/>
            <a:ext cx="2344691" cy="49131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478" y="243510"/>
            <a:ext cx="2211513" cy="46027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378" y="194606"/>
            <a:ext cx="2248311" cy="47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6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49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690" y="68238"/>
            <a:ext cx="637718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55;p39"/>
          <p:cNvSpPr txBox="1">
            <a:spLocks noGrp="1"/>
          </p:cNvSpPr>
          <p:nvPr>
            <p:ph type="ctrTitle" idx="4294967295"/>
          </p:nvPr>
        </p:nvSpPr>
        <p:spPr>
          <a:xfrm rot="5400000">
            <a:off x="5871462" y="2328000"/>
            <a:ext cx="4710126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dirty="0" smtClean="0"/>
              <a:t>پرتال مدیریتی قرار دسترسی برای واحد های مربوطه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27163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435" y="0"/>
            <a:ext cx="516255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9"/>
          <p:cNvSpPr/>
          <p:nvPr/>
        </p:nvSpPr>
        <p:spPr>
          <a:xfrm rot="5400000">
            <a:off x="1428875" y="205200"/>
            <a:ext cx="3358800" cy="5026500"/>
          </a:xfrm>
          <a:prstGeom prst="rect">
            <a:avLst/>
          </a:prstGeom>
          <a:solidFill>
            <a:srgbClr val="908269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49"/>
          <p:cNvSpPr txBox="1">
            <a:spLocks noGrp="1"/>
          </p:cNvSpPr>
          <p:nvPr>
            <p:ph type="ctrTitle"/>
          </p:nvPr>
        </p:nvSpPr>
        <p:spPr>
          <a:xfrm>
            <a:off x="984580" y="2157906"/>
            <a:ext cx="2607300" cy="11210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3000" dirty="0">
                <a:solidFill>
                  <a:schemeClr val="lt1"/>
                </a:solidFill>
              </a:rPr>
              <a:t>با تشکر از توجه شما</a:t>
            </a:r>
            <a:endParaRPr sz="3000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908269"/>
      </a:accent1>
      <a:accent2>
        <a:srgbClr val="212121"/>
      </a:accent2>
      <a:accent3>
        <a:srgbClr val="CFC3AC"/>
      </a:accent3>
      <a:accent4>
        <a:srgbClr val="976E26"/>
      </a:accent4>
      <a:accent5>
        <a:srgbClr val="927D59"/>
      </a:accent5>
      <a:accent6>
        <a:srgbClr val="584F3E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481</Words>
  <Application>Microsoft Office PowerPoint</Application>
  <PresentationFormat>On-screen Show (16:9)</PresentationFormat>
  <Paragraphs>50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Catamaran Light</vt:lpstr>
      <vt:lpstr>Arial</vt:lpstr>
      <vt:lpstr>Vazir</vt:lpstr>
      <vt:lpstr>Roboto</vt:lpstr>
      <vt:lpstr>B Nazanin</vt:lpstr>
      <vt:lpstr>Estedad Black</vt:lpstr>
      <vt:lpstr>Livvic</vt:lpstr>
      <vt:lpstr>Shabnam</vt:lpstr>
      <vt:lpstr>Engineering Project Proposal by Slidesgo</vt:lpstr>
      <vt:lpstr>معرفی پلتفرم مدیریت پسماند قرار در بابل </vt:lpstr>
      <vt:lpstr>ابرلاین تولید کننده 12 نرم فزار فعال با 15 سال سابقه فعالیت</vt:lpstr>
      <vt:lpstr>بهترین مشتریان ما</vt:lpstr>
      <vt:lpstr>قرار، یک قدم برای مدیریت بهتر پسماند بابل</vt:lpstr>
      <vt:lpstr>معرفی پلتفرم نرم افزاری قرار</vt:lpstr>
      <vt:lpstr>معماری فنی قرار</vt:lpstr>
      <vt:lpstr>نقش و سطح دسترسی</vt:lpstr>
      <vt:lpstr>گردش کار جمع آوری</vt:lpstr>
      <vt:lpstr>هوش مصنوعی</vt:lpstr>
      <vt:lpstr>تصاویر اپ شهروند و سفیر</vt:lpstr>
      <vt:lpstr>تصاویر اپ شهروند</vt:lpstr>
      <vt:lpstr>تصاویر اپ شهروند و سفیر</vt:lpstr>
      <vt:lpstr>پرتال مدیریتی قرار دسترسی برای واحد های مربوطه</vt:lpstr>
      <vt:lpstr>با تشکر از توجه شما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قالب پاورپوینت پروپوزال شرکتی رایگان</dc:title>
  <dc:creator>MOHAMAD</dc:creator>
  <cp:lastModifiedBy>Abarline</cp:lastModifiedBy>
  <cp:revision>24</cp:revision>
  <dcterms:modified xsi:type="dcterms:W3CDTF">2026-09-21T05:15:54Z</dcterms:modified>
</cp:coreProperties>
</file>