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3" r:id="rId3"/>
    <p:sldId id="258" r:id="rId4"/>
    <p:sldId id="259" r:id="rId5"/>
    <p:sldId id="260" r:id="rId6"/>
    <p:sldId id="261" r:id="rId7"/>
    <p:sldId id="284" r:id="rId8"/>
    <p:sldId id="262" r:id="rId9"/>
    <p:sldId id="263" r:id="rId10"/>
    <p:sldId id="264" r:id="rId11"/>
    <p:sldId id="271" r:id="rId12"/>
    <p:sldId id="272" r:id="rId13"/>
    <p:sldId id="279" r:id="rId14"/>
    <p:sldId id="280" r:id="rId15"/>
    <p:sldId id="277" r:id="rId16"/>
    <p:sldId id="281" r:id="rId17"/>
    <p:sldId id="28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1C41"/>
    <a:srgbClr val="152AC5"/>
    <a:srgbClr val="C143BB"/>
    <a:srgbClr val="F65E1A"/>
    <a:srgbClr val="D5DA08"/>
    <a:srgbClr val="833E29"/>
    <a:srgbClr val="F2F71D"/>
    <a:srgbClr val="838608"/>
    <a:srgbClr val="DD0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12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4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FA4074E-A9B9-45B1-969E-434AF49D19AD}" type="datetimeFigureOut">
              <a:rPr lang="fa-IR" smtClean="0"/>
              <a:t>08/04/1448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6A46E69-2555-4810-A722-F927A569B2D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172593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68440-0551-496D-B5B0-9DCF125AEA4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E9274-1457-4DA6-8A78-91292DE5D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272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81983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38682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24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4F4EC-D021-4B3E-AD64-0BE38E322C48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1213-6A5C-4536-B8D7-760C55D70FF5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622AD-277A-43BA-9BDF-772BF4CB1953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A43FC-56BA-4787-A21A-3AC8CE827BEF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3E77-909A-43A4-A656-A19F67626330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7BF5D-F006-4DAC-A793-ECFE42B81E75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72D21-8E6F-4940-AA49-4884425F0B7A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F15B-FE82-45E1-826B-8759E82527D2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7D815-F49D-4F44-9983-200B36BA1CCA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58AD-D3DB-40A1-BF83-EB34980550B0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D958-71D8-4E57-BEE8-8A3C11337532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E34AF-E180-464B-9DDA-55E81A295BA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4154" y="1054498"/>
            <a:ext cx="100728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rPr lang="fa-IR" sz="48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cs typeface="B Nazanin" pitchFamily="2" charset="-78"/>
              </a:rPr>
              <a:t>کاتالوگ نرم‌افزاری های طراحی شده</a:t>
            </a:r>
            <a:endParaRPr lang="fa-IR" sz="48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cs typeface="B Nazanin" pitchFamily="2" charset="-78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6457" y="3703320"/>
            <a:ext cx="315468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9215" y="3956364"/>
            <a:ext cx="64008" cy="823866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3849624"/>
            <a:ext cx="29535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sz="1600" b="1" dirty="0" smtClean="0">
                <a:cs typeface="B Titr" panose="00000700000000000000" pitchFamily="2" charset="-78"/>
              </a:rPr>
              <a:t>حمل‌ و نقل</a:t>
            </a:r>
            <a:endParaRPr sz="1600" dirty="0">
              <a:cs typeface="B Titr" panose="00000700000000000000" pitchFamily="2" charset="-7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00673" y="4224414"/>
            <a:ext cx="18421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ctr" rtl="1">
              <a:buFont typeface="Arial" pitchFamily="34" charset="0"/>
              <a:buChar char="•"/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 smtClean="0">
                <a:cs typeface="B Nazanin" panose="00000400000000000000" pitchFamily="2" charset="-78"/>
              </a:rPr>
              <a:t>ناوگان </a:t>
            </a:r>
            <a:r>
              <a:rPr lang="fa-IR" sz="1600" dirty="0" smtClean="0">
                <a:cs typeface="B Nazanin" panose="00000400000000000000" pitchFamily="2" charset="-78"/>
              </a:rPr>
              <a:t>تاکسی </a:t>
            </a:r>
            <a:r>
              <a:rPr lang="fa-IR" sz="1600" dirty="0">
                <a:cs typeface="B Nazanin" panose="00000400000000000000" pitchFamily="2" charset="-78"/>
              </a:rPr>
              <a:t>• اعزام </a:t>
            </a:r>
            <a:endParaRPr sz="1600" dirty="0">
              <a:cs typeface="B Nazanin" panose="00000400000000000000" pitchFamily="2" charset="-7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51960" y="3703320"/>
            <a:ext cx="315468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3849624"/>
            <a:ext cx="45720" cy="930606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3849624"/>
            <a:ext cx="27959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sz="1600" b="1" dirty="0">
                <a:cs typeface="B Titr" panose="00000700000000000000" pitchFamily="2" charset="-78"/>
              </a:rPr>
              <a:t>لجستیک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91783" y="4190215"/>
            <a:ext cx="23286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 rtl="1">
              <a:buFont typeface="Wingdings" pitchFamily="2" charset="2"/>
              <a:buChar char="§"/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پیک </a:t>
            </a:r>
            <a:r>
              <a:rPr lang="fa-IR" sz="1600" dirty="0" smtClean="0">
                <a:cs typeface="B Nazanin" pitchFamily="2" charset="-78"/>
              </a:rPr>
              <a:t>مدیریت </a:t>
            </a:r>
            <a:r>
              <a:rPr lang="fa-IR" sz="1600" dirty="0">
                <a:cs typeface="B Nazanin" pitchFamily="2" charset="-78"/>
              </a:rPr>
              <a:t>پسماند</a:t>
            </a:r>
            <a:endParaRPr sz="1600" dirty="0">
              <a:cs typeface="B Nazanin" pitchFamily="2" charset="-7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589520" y="3703320"/>
            <a:ext cx="315468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3956364"/>
            <a:ext cx="45719" cy="823866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3849624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sz="1600" b="1" dirty="0">
                <a:cs typeface="B Titr" panose="00000700000000000000" pitchFamily="2" charset="-78"/>
              </a:rPr>
              <a:t>کسب‌ و کار و بنگاه اقتصادی</a:t>
            </a:r>
            <a:endParaRPr sz="1600" dirty="0">
              <a:cs typeface="B Titr" panose="00000700000000000000" pitchFamily="2" charset="-7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44384" y="4255191"/>
            <a:ext cx="30906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 rtl="1">
              <a:buFont typeface="Arial" pitchFamily="34" charset="0"/>
              <a:buChar char="•"/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dirty="0" smtClean="0">
                <a:cs typeface="B Nazanin" pitchFamily="2" charset="-78"/>
              </a:rPr>
              <a:t>مدیریت </a:t>
            </a:r>
            <a:r>
              <a:rPr lang="fa-IR" sz="1400" dirty="0">
                <a:cs typeface="B Nazanin" pitchFamily="2" charset="-78"/>
              </a:rPr>
              <a:t>ارتباط با مشتری • حسابداری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697" y="6141308"/>
            <a:ext cx="8655167" cy="2154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lang="en-US" dirty="0"/>
              <a:t>Investor Presentation  |  </a:t>
            </a:r>
            <a:r>
              <a:rPr lang="en-US" dirty="0" smtClean="0"/>
              <a:t>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88647" y="1429677"/>
            <a:ext cx="2148840" cy="173736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15288" y="3795996"/>
            <a:ext cx="2148840" cy="173736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2517275" y="1466747"/>
            <a:ext cx="2148840" cy="173736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593580" y="3808356"/>
            <a:ext cx="2148840" cy="173736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949497" y="1392607"/>
            <a:ext cx="2148840" cy="173736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79773" y="3842951"/>
            <a:ext cx="2152546" cy="1758752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293987" y="1429676"/>
            <a:ext cx="2084791" cy="1634799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endParaRPr lang="fa-IR" dirty="0">
              <a:cs typeface="B Nazanin" pitchFamily="2" charset="-7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06516" y="3923683"/>
            <a:ext cx="2148840" cy="173736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9724806" y="3899381"/>
            <a:ext cx="2148840" cy="1811777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9739801" y="1371600"/>
            <a:ext cx="2085615" cy="1655393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2672971" y="156173"/>
            <a:ext cx="676985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2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cs typeface="B Nazanin" pitchFamily="2" charset="-78"/>
              </a:rPr>
              <a:t>سبد </a:t>
            </a:r>
            <a:r>
              <a:rPr lang="fa-IR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cs typeface="B Nazanin" pitchFamily="2" charset="-78"/>
              </a:rPr>
              <a:t>محصولات </a:t>
            </a:r>
            <a:endParaRPr lang="fa-IR" sz="24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cs typeface="B Nazanin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72972" y="617838"/>
            <a:ext cx="6623530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fa-I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B Nazanin" pitchFamily="2" charset="-78"/>
              </a:rPr>
              <a:t>۱۰ </a:t>
            </a:r>
            <a:r>
              <a:rPr lang="fa-IR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B Nazanin" pitchFamily="2" charset="-78"/>
              </a:rPr>
              <a:t>پلتفرم </a:t>
            </a:r>
            <a:r>
              <a:rPr lang="fa-I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B Nazanin" pitchFamily="2" charset="-78"/>
              </a:rPr>
              <a:t>تخصصی </a:t>
            </a:r>
            <a:r>
              <a:rPr lang="fa-IR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B Nazanin" pitchFamily="2" charset="-78"/>
              </a:rPr>
              <a:t>در حوزه‌های حمل‌ونقل، تجارت و </a:t>
            </a:r>
            <a:r>
              <a:rPr lang="fa-I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B Nazanin" pitchFamily="2" charset="-78"/>
              </a:rPr>
              <a:t>سازمانی</a:t>
            </a:r>
            <a:endParaRPr lang="fa-IR" sz="2000" b="1" dirty="0">
              <a:solidFill>
                <a:schemeClr val="tx1">
                  <a:lumMod val="85000"/>
                  <a:lumOff val="15000"/>
                </a:schemeClr>
              </a:solidFill>
              <a:cs typeface="B Nazanin" pitchFamily="2" charset="-7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6702" y="1569307"/>
            <a:ext cx="45719" cy="1535945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048" y="4053825"/>
            <a:ext cx="45719" cy="1323441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07797" y="4122051"/>
            <a:ext cx="45719" cy="1337189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707797" y="1612198"/>
            <a:ext cx="45719" cy="1233864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18430" y="1612197"/>
            <a:ext cx="45720" cy="1414795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18430" y="4053015"/>
            <a:ext cx="45719" cy="1324251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 flipH="1">
            <a:off x="7248264" y="1569308"/>
            <a:ext cx="45719" cy="1354961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 flipH="1">
            <a:off x="7346170" y="4200808"/>
            <a:ext cx="45719" cy="1258432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 flipH="1">
            <a:off x="4937760" y="4122051"/>
            <a:ext cx="45719" cy="1255215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17493" y="1620876"/>
            <a:ext cx="45719" cy="1354961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39801" y="2219548"/>
            <a:ext cx="209454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1600" dirty="0">
                <a:cs typeface="B Nazanin" pitchFamily="2" charset="-78"/>
              </a:rPr>
              <a:t>مسافر + راننده + </a:t>
            </a:r>
            <a:endParaRPr lang="fa-IR" sz="1600" dirty="0" smtClean="0">
              <a:cs typeface="B Nazanin" pitchFamily="2" charset="-78"/>
            </a:endParaRPr>
          </a:p>
          <a:p>
            <a:pPr algn="ctr" rtl="1"/>
            <a:r>
              <a:rPr lang="fa-IR" sz="1600" dirty="0" smtClean="0">
                <a:cs typeface="B Nazanin" pitchFamily="2" charset="-78"/>
              </a:rPr>
              <a:t>مرکز اعزام</a:t>
            </a:r>
            <a:endParaRPr lang="fa-IR" sz="1600" dirty="0">
              <a:cs typeface="B Nazanin" pitchFamily="2" charset="-78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35447" y="1660333"/>
            <a:ext cx="1607474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dirty="0"/>
              <a:t>01   </a:t>
            </a:r>
            <a:r>
              <a:rPr lang="fa-IR" sz="1500" dirty="0" smtClean="0">
                <a:cs typeface="B Nazanin" pitchFamily="2" charset="-78"/>
              </a:rPr>
              <a:t>تاکسی اینترنتی</a:t>
            </a:r>
            <a:endParaRPr lang="fa-IR" sz="1500" dirty="0"/>
          </a:p>
        </p:txBody>
      </p:sp>
      <p:sp>
        <p:nvSpPr>
          <p:cNvPr id="30" name="TextBox 29"/>
          <p:cNvSpPr txBox="1"/>
          <p:nvPr/>
        </p:nvSpPr>
        <p:spPr>
          <a:xfrm>
            <a:off x="7489633" y="2252156"/>
            <a:ext cx="1709452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تحویل شهری و عملیات ناوگان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5987" y="1639169"/>
            <a:ext cx="16743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fa-IR" sz="1600" b="1" dirty="0" smtClean="0">
                <a:cs typeface="B Nazanin" pitchFamily="2" charset="-78"/>
              </a:rPr>
              <a:t>پیک موتوری</a:t>
            </a:r>
            <a:r>
              <a:rPr lang="en-US" sz="1600" b="1" dirty="0" smtClean="0">
                <a:cs typeface="B Nazanin" pitchFamily="2" charset="-78"/>
              </a:rPr>
              <a:t> 02 </a:t>
            </a:r>
            <a:endParaRPr lang="fa-IR" sz="1600" dirty="0">
              <a:cs typeface="B Nazanin" pitchFamily="2" charset="-7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28010" y="1601715"/>
            <a:ext cx="174230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fa-IR" sz="1600" dirty="0" smtClean="0">
                <a:cs typeface="B Nazanin" pitchFamily="2" charset="-78"/>
              </a:rPr>
              <a:t>  </a:t>
            </a:r>
            <a:r>
              <a:rPr lang="fa-IR" sz="1600" b="1" dirty="0">
                <a:cs typeface="B Nazanin" pitchFamily="2" charset="-78"/>
              </a:rPr>
              <a:t>مدیریت </a:t>
            </a:r>
            <a:r>
              <a:rPr lang="fa-IR" sz="1600" b="1" dirty="0" smtClean="0">
                <a:cs typeface="B Nazanin" pitchFamily="2" charset="-78"/>
              </a:rPr>
              <a:t>پسماند</a:t>
            </a:r>
            <a:r>
              <a:rPr lang="en-US" sz="1600" b="1" dirty="0" smtClean="0">
                <a:cs typeface="B Nazanin" pitchFamily="2" charset="-78"/>
              </a:rPr>
              <a:t>03</a:t>
            </a:r>
            <a:endParaRPr lang="fa-IR" sz="1600" dirty="0">
              <a:cs typeface="B Nazanin" pitchFamily="2" charset="-78"/>
            </a:endParaRPr>
          </a:p>
          <a:p>
            <a:pPr algn="r" rtl="1"/>
            <a:endParaRPr lang="fa-IR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5189838" y="2166399"/>
            <a:ext cx="174230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600" dirty="0">
                <a:cs typeface="B Nazanin" pitchFamily="2" charset="-78"/>
              </a:rPr>
              <a:t>درخواست‌های شهروندان + جمع‌آوری طبق </a:t>
            </a:r>
            <a:r>
              <a:rPr lang="fa-IR" sz="1600" dirty="0" smtClean="0">
                <a:cs typeface="B Nazanin" pitchFamily="2" charset="-78"/>
              </a:rPr>
              <a:t>برنامه</a:t>
            </a:r>
            <a:endParaRPr lang="fa-IR" sz="1600" dirty="0">
              <a:cs typeface="B Nazanin" pitchFamily="2" charset="-78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06130" y="2236573"/>
            <a:ext cx="180408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600" dirty="0">
                <a:cs typeface="B Nazanin" pitchFamily="2" charset="-78"/>
              </a:rPr>
              <a:t>ثبت </a:t>
            </a:r>
            <a:r>
              <a:rPr lang="fa-IR" sz="1600" dirty="0" smtClean="0">
                <a:cs typeface="B Nazanin" pitchFamily="2" charset="-78"/>
              </a:rPr>
              <a:t>سفارش‌ کافه </a:t>
            </a:r>
            <a:r>
              <a:rPr lang="fa-IR" sz="1600" dirty="0">
                <a:cs typeface="B Nazanin" pitchFamily="2" charset="-78"/>
              </a:rPr>
              <a:t>و  </a:t>
            </a:r>
            <a:r>
              <a:rPr lang="fa-IR" sz="1600" dirty="0" smtClean="0">
                <a:cs typeface="B Nazanin" pitchFamily="2" charset="-78"/>
              </a:rPr>
              <a:t>رستوران</a:t>
            </a:r>
            <a:endParaRPr lang="fa-IR" sz="1600" dirty="0">
              <a:cs typeface="B Nazanin" pitchFamily="2" charset="-7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27406" y="1661641"/>
            <a:ext cx="148281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dirty="0"/>
              <a:t>04  </a:t>
            </a:r>
            <a:r>
              <a:rPr lang="fa-IR" dirty="0">
                <a:cs typeface="B Nazanin" pitchFamily="2" charset="-78"/>
              </a:rPr>
              <a:t>کافه و رستوران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4425" y="2380927"/>
            <a:ext cx="198350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600" dirty="0">
                <a:cs typeface="B Nazanin" pitchFamily="2" charset="-78"/>
              </a:rPr>
              <a:t>ارتباط با مشتری و وفاداری </a:t>
            </a:r>
            <a:r>
              <a:rPr lang="fa-IR" sz="1600" dirty="0" smtClean="0">
                <a:cs typeface="B Nazanin" pitchFamily="2" charset="-78"/>
              </a:rPr>
              <a:t>مشتری</a:t>
            </a:r>
            <a:endParaRPr lang="fa-IR" sz="1600" dirty="0">
              <a:cs typeface="B Nazanin" pitchFamily="2" charset="-78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54426" y="1569308"/>
            <a:ext cx="202484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600" b="1" dirty="0">
                <a:cs typeface="B Nazanin" pitchFamily="2" charset="-78"/>
              </a:rPr>
              <a:t>05    </a:t>
            </a:r>
            <a:r>
              <a:rPr lang="fa-IR" sz="1200" b="1" dirty="0">
                <a:cs typeface="B Nazanin" pitchFamily="2" charset="-78"/>
              </a:rPr>
              <a:t>مدیریت ارتباط با </a:t>
            </a:r>
            <a:r>
              <a:rPr lang="fa-IR" sz="1200" b="1" dirty="0" smtClean="0">
                <a:cs typeface="B Nazanin" pitchFamily="2" charset="-78"/>
              </a:rPr>
              <a:t>مشتری</a:t>
            </a:r>
            <a:r>
              <a:rPr lang="en-US" sz="1200" b="1" dirty="0" smtClean="0">
                <a:cs typeface="B Nazanin" pitchFamily="2" charset="-78"/>
              </a:rPr>
              <a:t>(CRM</a:t>
            </a:r>
            <a:r>
              <a:rPr lang="en-US" sz="1200" b="1" dirty="0">
                <a:cs typeface="B Nazanin" pitchFamily="2" charset="-78"/>
              </a:rPr>
              <a:t>) </a:t>
            </a:r>
            <a:r>
              <a:rPr lang="fa-IR" sz="1200" b="1" dirty="0" smtClean="0">
                <a:cs typeface="B Nazanin" pitchFamily="2" charset="-78"/>
              </a:rPr>
              <a:t>باشگاه </a:t>
            </a:r>
            <a:r>
              <a:rPr lang="fa-IR" sz="1200" b="1" dirty="0">
                <a:cs typeface="B Nazanin" pitchFamily="2" charset="-78"/>
              </a:rPr>
              <a:t>مشتریان</a:t>
            </a:r>
          </a:p>
          <a:p>
            <a:pPr algn="r" rtl="1"/>
            <a:endParaRPr lang="fa-IR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7346170" y="4141321"/>
            <a:ext cx="210462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400" dirty="0" smtClean="0">
                <a:cs typeface="B Nazanin" pitchFamily="2" charset="-78"/>
              </a:rPr>
              <a:t>7.</a:t>
            </a:r>
            <a:r>
              <a:rPr lang="en-US" sz="1400" dirty="0" smtClean="0">
                <a:cs typeface="B Nazanin" pitchFamily="2" charset="-78"/>
              </a:rPr>
              <a:t>CRM </a:t>
            </a:r>
            <a:r>
              <a:rPr lang="fa-IR" sz="1400" dirty="0" smtClean="0">
                <a:cs typeface="B Nazanin" pitchFamily="2" charset="-78"/>
              </a:rPr>
              <a:t> </a:t>
            </a:r>
            <a:r>
              <a:rPr lang="fa-IR" sz="1400" b="1" dirty="0" smtClean="0">
                <a:cs typeface="B Nazanin" pitchFamily="2" charset="-78"/>
              </a:rPr>
              <a:t>شرکت </a:t>
            </a:r>
            <a:r>
              <a:rPr lang="fa-IR" sz="1400" b="1" dirty="0">
                <a:cs typeface="B Nazanin" pitchFamily="2" charset="-78"/>
              </a:rPr>
              <a:t>های </a:t>
            </a:r>
            <a:r>
              <a:rPr lang="fa-IR" sz="1400" b="1" dirty="0" smtClean="0">
                <a:cs typeface="B Nazanin" pitchFamily="2" charset="-78"/>
              </a:rPr>
              <a:t>حقوقی</a:t>
            </a:r>
            <a:endParaRPr lang="en-US" sz="1100" dirty="0">
              <a:cs typeface="B Nazanin" pitchFamily="2" charset="-78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00217" y="4666735"/>
            <a:ext cx="162295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سیستم مدیریت</a:t>
            </a:r>
          </a:p>
          <a:p>
            <a:pPr algn="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 موسسه حقوقی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55561" y="4361604"/>
            <a:ext cx="1887329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 </a:t>
            </a:r>
            <a:r>
              <a:rPr lang="fa-IR" sz="1600" dirty="0" smtClean="0">
                <a:cs typeface="B Nazanin" pitchFamily="2" charset="-78"/>
              </a:rPr>
              <a:t>• تدارکات</a:t>
            </a:r>
            <a:endParaRPr lang="fa-IR" sz="1600" dirty="0">
              <a:cs typeface="B Nazanin" pitchFamily="2" charset="-78"/>
            </a:endParaRPr>
          </a:p>
          <a:p>
            <a:pPr algn="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 • تولید </a:t>
            </a:r>
          </a:p>
          <a:p>
            <a:pPr algn="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en-US" sz="1600" dirty="0" smtClean="0">
                <a:cs typeface="B Nazanin" pitchFamily="2" charset="-78"/>
              </a:rPr>
              <a:t> </a:t>
            </a:r>
            <a:r>
              <a:rPr lang="fa-IR" sz="1600" dirty="0" smtClean="0">
                <a:cs typeface="B Nazanin" pitchFamily="2" charset="-78"/>
              </a:rPr>
              <a:t>• </a:t>
            </a:r>
            <a:r>
              <a:rPr lang="fa-IR" sz="1600" dirty="0">
                <a:cs typeface="B Nazanin" pitchFamily="2" charset="-78"/>
              </a:rPr>
              <a:t>نگهداری و </a:t>
            </a:r>
            <a:r>
              <a:rPr lang="fa-IR" sz="1600" dirty="0" smtClean="0">
                <a:cs typeface="B Nazanin" pitchFamily="2" charset="-78"/>
              </a:rPr>
              <a:t>تعمیرات</a:t>
            </a:r>
          </a:p>
          <a:p>
            <a:pPr marL="285750" indent="-285750" algn="r" rtl="1">
              <a:buFont typeface="Arial" panose="020B0604020202020204" pitchFamily="34" charset="0"/>
              <a:buChar char="•"/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 smtClean="0">
                <a:cs typeface="B Nazanin" pitchFamily="2" charset="-78"/>
              </a:rPr>
              <a:t>کنترل کیفیت </a:t>
            </a:r>
            <a:endParaRPr lang="fa-IR" sz="1600" dirty="0">
              <a:cs typeface="B Nazanin" pitchFamily="2" charset="-78"/>
            </a:endParaRPr>
          </a:p>
          <a:p>
            <a:pPr algn="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• انبار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71806" y="4053827"/>
            <a:ext cx="201491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fa-IR" sz="1400" b="1" dirty="0" smtClean="0">
                <a:cs typeface="B Nazanin" pitchFamily="2" charset="-78"/>
              </a:rPr>
              <a:t>6. شرکت های تولیدی صنعتی </a:t>
            </a:r>
            <a:endParaRPr lang="fa-IR" sz="1400" b="1" dirty="0">
              <a:cs typeface="B Nazanin" pitchFamily="2" charset="-78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177481" y="4664676"/>
            <a:ext cx="1812735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dirty="0">
                <a:cs typeface="B Nazanin" pitchFamily="2" charset="-78"/>
              </a:rPr>
              <a:t>پلتفرم حرفه‌ای خرید و فروش </a:t>
            </a:r>
            <a:r>
              <a:rPr lang="fa-IR" sz="1400" dirty="0" smtClean="0">
                <a:cs typeface="B Nazanin" pitchFamily="2" charset="-78"/>
              </a:rPr>
              <a:t>صنف طلا جواهر و نقره </a:t>
            </a:r>
            <a:endParaRPr lang="fa-IR" sz="1400" dirty="0">
              <a:cs typeface="B Nazanin" pitchFamily="2" charset="-78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047488" y="4053826"/>
            <a:ext cx="208483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600" dirty="0" smtClean="0"/>
              <a:t>   </a:t>
            </a:r>
            <a:r>
              <a:rPr lang="fa-IR" sz="1600" dirty="0" smtClean="0"/>
              <a:t>8 </a:t>
            </a:r>
            <a:r>
              <a:rPr lang="fa-IR" sz="1600" dirty="0" smtClean="0"/>
              <a:t>. </a:t>
            </a:r>
            <a:r>
              <a:rPr lang="fa-IR" sz="1600" b="1" dirty="0" smtClean="0">
                <a:cs typeface="B Nazanin" pitchFamily="2" charset="-78"/>
              </a:rPr>
              <a:t>بازار </a:t>
            </a:r>
            <a:r>
              <a:rPr lang="fa-IR" sz="1600" b="1" dirty="0">
                <a:cs typeface="B Nazanin" pitchFamily="2" charset="-78"/>
              </a:rPr>
              <a:t>طلا و جواهرات </a:t>
            </a:r>
            <a:endParaRPr lang="fa-IR" sz="1600" dirty="0">
              <a:cs typeface="B Nazanin" pitchFamily="2" charset="-78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582438" y="4534930"/>
            <a:ext cx="2083677" cy="10464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600" dirty="0">
                <a:cs typeface="B Nazanin" pitchFamily="2" charset="-78"/>
              </a:rPr>
              <a:t>بازار تخصصی املاک و سامانه مدیریت ارتباط با مشتری </a:t>
            </a:r>
            <a:r>
              <a:rPr lang="fa-IR" sz="1400" dirty="0"/>
              <a:t>(</a:t>
            </a:r>
            <a:r>
              <a:rPr lang="en-US" sz="1400" dirty="0" smtClean="0"/>
              <a:t>CRM</a:t>
            </a:r>
            <a:r>
              <a:rPr lang="fa-IR" sz="1400" dirty="0" smtClean="0"/>
              <a:t>)</a:t>
            </a:r>
            <a:endParaRPr lang="en-US" sz="1600" dirty="0"/>
          </a:p>
          <a:p>
            <a:pPr algn="r" rtl="1"/>
            <a:endParaRPr lang="fa-IR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2598807" y="4016933"/>
            <a:ext cx="2050938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fa-IR" sz="1400" dirty="0" smtClean="0">
                <a:cs typeface="B Nazanin" pitchFamily="2" charset="-78"/>
              </a:rPr>
              <a:t>09  </a:t>
            </a:r>
            <a:r>
              <a:rPr lang="fa-IR" sz="1400" b="1" dirty="0">
                <a:cs typeface="B Nazanin" pitchFamily="2" charset="-78"/>
              </a:rPr>
              <a:t>املاک و مستغلات </a:t>
            </a:r>
            <a:r>
              <a:rPr lang="fa-IR" sz="1400" b="1" dirty="0" smtClean="0">
                <a:cs typeface="B Nazanin" pitchFamily="2" charset="-78"/>
              </a:rPr>
              <a:t>حرفه‌ای</a:t>
            </a:r>
            <a:endParaRPr lang="fa-IR" sz="1400" dirty="0">
              <a:cs typeface="B Nazanin" pitchFamily="2" charset="-78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83059" y="4628908"/>
            <a:ext cx="175547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dirty="0">
                <a:cs typeface="B Nazanin" pitchFamily="2" charset="-78"/>
              </a:rPr>
              <a:t>نرم‌افزار مدیریت  باشگاه ها و  </a:t>
            </a:r>
          </a:p>
          <a:p>
            <a:pPr algn="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dirty="0">
                <a:cs typeface="B Nazanin" pitchFamily="2" charset="-78"/>
              </a:rPr>
              <a:t>مراکز تفریحی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8707" y="3917917"/>
            <a:ext cx="198253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dirty="0" smtClean="0">
                <a:cs typeface="B Nazanin" pitchFamily="2" charset="-78"/>
              </a:rPr>
              <a:t>10. مجموعه های ورزشی </a:t>
            </a:r>
            <a:r>
              <a:rPr lang="fa-IR" dirty="0">
                <a:cs typeface="B Nazanin" pitchFamily="2" charset="-78"/>
              </a:rPr>
              <a:t>و تفریحی</a:t>
            </a:r>
            <a:endParaRPr lang="fa-IR" dirty="0"/>
          </a:p>
        </p:txBody>
      </p:sp>
      <p:sp>
        <p:nvSpPr>
          <p:cNvPr id="62" name="TextBox 61"/>
          <p:cNvSpPr txBox="1"/>
          <p:nvPr/>
        </p:nvSpPr>
        <p:spPr>
          <a:xfrm>
            <a:off x="383059" y="6166022"/>
            <a:ext cx="2732313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900" dirty="0"/>
              <a:t>Investor Presentation  |  2</a:t>
            </a:r>
          </a:p>
        </p:txBody>
      </p:sp>
    </p:spTree>
    <p:extLst>
      <p:ext uri="{BB962C8B-B14F-4D97-AF65-F5344CB8AC3E}">
        <p14:creationId xmlns:p14="http://schemas.microsoft.com/office/powerpoint/2010/main" val="228495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776001" y="347472"/>
            <a:ext cx="353673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r>
              <a:rPr lang="fa-IR" sz="2700" b="1" dirty="0" smtClean="0">
                <a:cs typeface="B Nazanin" pitchFamily="2" charset="-78"/>
              </a:rPr>
              <a:t>تاکسی اینترنتی </a:t>
            </a:r>
            <a:endParaRPr dirty="0">
              <a:cs typeface="B Nazanin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8259" y="932688"/>
            <a:ext cx="39234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400" dirty="0">
                <a:solidFill>
                  <a:srgbClr val="0070C0"/>
                </a:solidFill>
                <a:cs typeface="B Nazanin" pitchFamily="2" charset="-78"/>
              </a:rPr>
              <a:t>اپلیکیشن مسافر + اپلیکیشن راننده + پنل دیسپچ (مدیریت اعزام)</a:t>
            </a:r>
            <a:endParaRPr sz="1400" dirty="0">
              <a:solidFill>
                <a:srgbClr val="0070C0"/>
              </a:solidFill>
              <a:cs typeface="B Nazanin" pitchFamily="2" charset="-7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337560" cy="2057400"/>
          </a:xfrm>
          <a:prstGeom prst="roundRect">
            <a:avLst/>
          </a:prstGeom>
          <a:solidFill>
            <a:srgbClr val="FAFBFD"/>
          </a:solidFill>
          <a:ln w="17780">
            <a:solidFill>
              <a:srgbClr val="A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3337560" cy="2057400"/>
          </a:xfrm>
          <a:prstGeom prst="roundRect">
            <a:avLst/>
          </a:prstGeom>
          <a:solidFill>
            <a:srgbClr val="FAFBFD"/>
          </a:solidFill>
          <a:ln w="17780">
            <a:solidFill>
              <a:srgbClr val="A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50342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97380"/>
                </a:solidFill>
                <a:latin typeface="Aptos"/>
              </a:defRPr>
            </a:pPr>
            <a:r>
              <a:t>PRODUCT IMAGE 2</a:t>
            </a:r>
            <a:br/>
            <a:r>
              <a:t>Place screenshot / UI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257300"/>
            <a:ext cx="7452360" cy="434340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209687"/>
            <a:ext cx="64008" cy="4343400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5765" y="1461063"/>
            <a:ext cx="6680473" cy="135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b="1" dirty="0">
                <a:cs typeface="B Nazanin" pitchFamily="2" charset="-78"/>
              </a:rPr>
              <a:t>اپلیکیشن </a:t>
            </a:r>
            <a:r>
              <a:rPr lang="fa-IR" sz="1400" b="1" dirty="0" smtClean="0">
                <a:cs typeface="B Nazanin" pitchFamily="2" charset="-78"/>
              </a:rPr>
              <a:t>مسافر : </a:t>
            </a:r>
            <a:r>
              <a:rPr lang="fa-IR" sz="1200" dirty="0" smtClean="0">
                <a:cs typeface="B Nazanin" pitchFamily="2" charset="-78"/>
              </a:rPr>
              <a:t>رزرو </a:t>
            </a:r>
            <a:r>
              <a:rPr lang="fa-IR" sz="1200" dirty="0">
                <a:cs typeface="B Nazanin" pitchFamily="2" charset="-78"/>
              </a:rPr>
              <a:t>سفر، مکان‌یابی دقیق، پرداخت آنلاین و رهگیری لحظه‌ای </a:t>
            </a:r>
            <a:r>
              <a:rPr lang="fa-IR" sz="1200" dirty="0" smtClean="0">
                <a:cs typeface="B Nazanin" pitchFamily="2" charset="-78"/>
              </a:rPr>
              <a:t>سفر</a:t>
            </a:r>
          </a:p>
          <a:p>
            <a:pPr algn="r" rtl="1">
              <a:lnSpc>
                <a:spcPct val="150000"/>
              </a:lnSpc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b="1" dirty="0" smtClean="0">
                <a:cs typeface="B Nazanin" pitchFamily="2" charset="-78"/>
              </a:rPr>
              <a:t> اپلیکیشن راننده: </a:t>
            </a:r>
            <a:r>
              <a:rPr lang="fa-IR" sz="1200" dirty="0" smtClean="0">
                <a:cs typeface="B Nazanin" pitchFamily="2" charset="-78"/>
              </a:rPr>
              <a:t>دریافت سرویس، پذیرش/رد درخواست، مسیریابی و مدیریت وضعیت</a:t>
            </a:r>
          </a:p>
          <a:p>
            <a:pPr algn="r" rtl="1">
              <a:lnSpc>
                <a:spcPct val="150000"/>
              </a:lnSpc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b="1" dirty="0" smtClean="0">
                <a:cs typeface="B Nazanin" pitchFamily="2" charset="-78"/>
              </a:rPr>
              <a:t>پنل دیسپچ:  </a:t>
            </a:r>
            <a:r>
              <a:rPr lang="fa-IR" sz="1200" dirty="0" smtClean="0">
                <a:cs typeface="B Nazanin" pitchFamily="2" charset="-78"/>
              </a:rPr>
              <a:t>نقشه زنده، مدیریت رانندگان و ناوگان، سرویس حمل‌ونقل و سرویس مدارس</a:t>
            </a:r>
          </a:p>
          <a:p>
            <a:pPr algn="r" rtl="1">
              <a:lnSpc>
                <a:spcPct val="150000"/>
              </a:lnSpc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b="1" dirty="0" smtClean="0">
                <a:cs typeface="B Nazanin" pitchFamily="2" charset="-78"/>
              </a:rPr>
              <a:t>معماری </a:t>
            </a:r>
            <a:r>
              <a:rPr lang="fa-IR" sz="1400" b="1" dirty="0">
                <a:cs typeface="B Nazanin" pitchFamily="2" charset="-78"/>
              </a:rPr>
              <a:t>چندشعبه‌ای / وایت‌لیبل </a:t>
            </a:r>
            <a:r>
              <a:rPr lang="en-US" sz="1400" b="1" dirty="0" smtClean="0">
                <a:cs typeface="B Nazanin" pitchFamily="2" charset="-78"/>
              </a:rPr>
              <a:t>White-label</a:t>
            </a:r>
            <a:r>
              <a:rPr lang="en-US" sz="1400" b="1" dirty="0">
                <a:cs typeface="B Nazanin" pitchFamily="2" charset="-78"/>
              </a:rPr>
              <a:t>): </a:t>
            </a:r>
            <a:r>
              <a:rPr lang="fa-IR" sz="1400" b="1" dirty="0" smtClean="0">
                <a:cs typeface="B Nazanin" pitchFamily="2" charset="-78"/>
              </a:rPr>
              <a:t>)  </a:t>
            </a:r>
            <a:r>
              <a:rPr lang="fa-IR" sz="1200" b="1" dirty="0" smtClean="0">
                <a:cs typeface="B Nazanin" pitchFamily="2" charset="-78"/>
              </a:rPr>
              <a:t>:</a:t>
            </a:r>
            <a:r>
              <a:rPr lang="fa-IR" sz="1200" dirty="0" smtClean="0">
                <a:cs typeface="B Nazanin" pitchFamily="2" charset="-78"/>
              </a:rPr>
              <a:t>قابلیت </a:t>
            </a:r>
            <a:r>
              <a:rPr lang="fa-IR" sz="1200" dirty="0">
                <a:cs typeface="B Nazanin" pitchFamily="2" charset="-78"/>
              </a:rPr>
              <a:t>شخصی‌سازی و پیاده‌سازی مستقل برای برندها و شعب مختلف</a:t>
            </a:r>
            <a:endParaRPr sz="1200" dirty="0">
              <a:cs typeface="B Nazanin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43400" y="6153912"/>
            <a:ext cx="184731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343C"/>
                </a:solidFill>
                <a:latin typeface="Aptos"/>
              </a:defRPr>
            </a:pP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948186" y="5750835"/>
            <a:ext cx="61680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b="1" dirty="0">
                <a:solidFill>
                  <a:srgbClr val="00B050"/>
                </a:solidFill>
                <a:cs typeface="B Nazanin" pitchFamily="2" charset="-78"/>
              </a:rPr>
              <a:t>یک فرایند دیجیتال یکپارچه؛ از ثبت درخواست سفر تا تسویه حساب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368" y="2859733"/>
            <a:ext cx="4566925" cy="27638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99123"/>
            <a:ext cx="3133444" cy="169845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54" y="3886200"/>
            <a:ext cx="3014914" cy="16792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8754" y="6058612"/>
            <a:ext cx="2279797" cy="2154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lang="en-US" dirty="0"/>
              <a:t>Investor Presentation  |  </a:t>
            </a: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718250" y="846909"/>
            <a:ext cx="2773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600" dirty="0">
                <a:solidFill>
                  <a:schemeClr val="tx1">
                    <a:lumMod val="95000"/>
                    <a:lumOff val="5000"/>
                  </a:schemeClr>
                </a:solidFill>
                <a:cs typeface="B Nazanin" pitchFamily="2" charset="-78"/>
              </a:rPr>
              <a:t>تحویل درون‌شهری و مدیریت ناوگان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64989" y="82010"/>
            <a:ext cx="31021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endParaRPr lang="fa-IR" sz="2400" dirty="0" smtClean="0"/>
          </a:p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r>
              <a:rPr lang="fa-IR" sz="2400" dirty="0" smtClean="0">
                <a:cs typeface="B Titr" panose="00000700000000000000" pitchFamily="2" charset="-78"/>
              </a:rPr>
              <a:t>پیک موتوری</a:t>
            </a:r>
            <a:endParaRPr sz="2400" dirty="0">
              <a:cs typeface="B Titr" panose="000007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17015" y="839914"/>
            <a:ext cx="2773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600" dirty="0">
                <a:solidFill>
                  <a:schemeClr val="tx1">
                    <a:lumMod val="95000"/>
                    <a:lumOff val="5000"/>
                  </a:schemeClr>
                </a:solidFill>
                <a:cs typeface="B Nazanin" pitchFamily="2" charset="-78"/>
              </a:rPr>
              <a:t>تحویل درون‌شهری و مدیریت ناوگان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337560" cy="2057400"/>
          </a:xfrm>
          <a:prstGeom prst="roundRect">
            <a:avLst/>
          </a:prstGeom>
          <a:solidFill>
            <a:srgbClr val="FAFBFD"/>
          </a:solidFill>
          <a:ln w="17780">
            <a:solidFill>
              <a:srgbClr val="A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1742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97380"/>
                </a:solidFill>
                <a:latin typeface="Aptos"/>
              </a:defRPr>
            </a:pPr>
            <a:r>
              <a:rPr dirty="0"/>
              <a:t>PRODUCT IMAGE 1</a:t>
            </a:r>
            <a:br>
              <a:rPr dirty="0"/>
            </a:br>
            <a:r>
              <a:rPr dirty="0"/>
              <a:t>Place screenshot / UI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3337560" cy="2057400"/>
          </a:xfrm>
          <a:prstGeom prst="roundRect">
            <a:avLst/>
          </a:prstGeom>
          <a:solidFill>
            <a:srgbClr val="FAFBFD"/>
          </a:solidFill>
          <a:ln w="17780">
            <a:solidFill>
              <a:srgbClr val="A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50342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97380"/>
                </a:solidFill>
                <a:latin typeface="Aptos"/>
              </a:defRPr>
            </a:pPr>
            <a:r>
              <a:t>PRODUCT IMAGE 2</a:t>
            </a:r>
            <a:br/>
            <a:r>
              <a:t>Place screenshot / UI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417320"/>
            <a:ext cx="7452360" cy="434340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64008" cy="434340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3408" y="1601231"/>
            <a:ext cx="46472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dirty="0" smtClean="0">
                <a:cs typeface="B Nazanin" pitchFamily="2" charset="-78"/>
              </a:rPr>
              <a:t> </a:t>
            </a:r>
            <a:r>
              <a:rPr lang="fa-IR" dirty="0">
                <a:cs typeface="B Nazanin" pitchFamily="2" charset="-78"/>
              </a:rPr>
              <a:t>اپ راننده و </a:t>
            </a:r>
            <a:r>
              <a:rPr lang="fa-IR" dirty="0" smtClean="0">
                <a:cs typeface="B Nazanin" pitchFamily="2" charset="-78"/>
              </a:rPr>
              <a:t>پیک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dirty="0" smtClean="0">
                <a:cs typeface="B Nazanin" pitchFamily="2" charset="-78"/>
              </a:rPr>
              <a:t> </a:t>
            </a:r>
            <a:r>
              <a:rPr lang="fa-IR" dirty="0">
                <a:cs typeface="B Nazanin" pitchFamily="2" charset="-78"/>
              </a:rPr>
              <a:t>ثبت سفارش</a:t>
            </a:r>
            <a:endParaRPr lang="fa-IR" dirty="0" smtClean="0">
              <a:cs typeface="B Nazanin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dirty="0">
                <a:cs typeface="B Nazanin" pitchFamily="2" charset="-78"/>
              </a:rPr>
              <a:t>ثبت سفارش‌ها و مدیریت </a:t>
            </a:r>
            <a:r>
              <a:rPr lang="fa-IR" dirty="0" smtClean="0">
                <a:cs typeface="B Nazanin" pitchFamily="2" charset="-78"/>
              </a:rPr>
              <a:t>مشتریان</a:t>
            </a:r>
            <a:endParaRPr lang="fa-IR" dirty="0">
              <a:cs typeface="B Nazanin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dirty="0" smtClean="0">
                <a:cs typeface="B Nazanin" pitchFamily="2" charset="-78"/>
              </a:rPr>
              <a:t> </a:t>
            </a:r>
            <a:r>
              <a:rPr lang="fa-IR" dirty="0">
                <a:cs typeface="B Nazanin" pitchFamily="2" charset="-78"/>
              </a:rPr>
              <a:t>نمایش وضعیت مرسوله و پیگیری تحویل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dirty="0" smtClean="0">
                <a:cs typeface="B Nazanin" pitchFamily="2" charset="-78"/>
              </a:rPr>
              <a:t> </a:t>
            </a:r>
            <a:r>
              <a:rPr lang="fa-IR" dirty="0">
                <a:cs typeface="B Nazanin" pitchFamily="2" charset="-78"/>
              </a:rPr>
              <a:t>گزارش‌گیری بر اساس مناطق، ناوگان و عملکرد عملیاتی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dirty="0" smtClean="0">
                <a:cs typeface="B Nazanin" pitchFamily="2" charset="-78"/>
              </a:rPr>
              <a:t> </a:t>
            </a:r>
            <a:r>
              <a:rPr lang="fa-IR" dirty="0">
                <a:cs typeface="B Nazanin" pitchFamily="2" charset="-78"/>
              </a:rPr>
              <a:t>مناسب برای شبکه‌های پیک موتوری و تحویل درون‌شهری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5532120"/>
            <a:ext cx="64008" cy="50292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120" y="5884607"/>
            <a:ext cx="293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100" b="1" dirty="0">
                <a:cs typeface="B Nazanin" pitchFamily="2" charset="-78"/>
              </a:rPr>
              <a:t>دید کامل بر عملیات؛ از ثبت سفارش تا تحویل نهایی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dirty="0"/>
              <a:t>Investor Presentation  |  4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76" y="1586575"/>
            <a:ext cx="2463807" cy="173278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661" y="3895651"/>
            <a:ext cx="2117242" cy="1672738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069" y="3377971"/>
            <a:ext cx="2631989" cy="241117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04118" y="149027"/>
            <a:ext cx="461029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r>
              <a:rPr lang="fa-IR" dirty="0" smtClean="0">
                <a:cs typeface="B Titr" panose="00000700000000000000" pitchFamily="2" charset="-78"/>
              </a:rPr>
              <a:t>مدیریت </a:t>
            </a:r>
            <a:r>
              <a:rPr lang="fa-IR" dirty="0">
                <a:cs typeface="B Titr" panose="00000700000000000000" pitchFamily="2" charset="-78"/>
              </a:rPr>
              <a:t>پسماند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0340" y="718361"/>
            <a:ext cx="434452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dirty="0">
                <a:solidFill>
                  <a:srgbClr val="002060"/>
                </a:solidFill>
                <a:cs typeface="B Nazanin" pitchFamily="2" charset="-78"/>
              </a:rPr>
              <a:t>درخواست </a:t>
            </a:r>
            <a:r>
              <a:rPr lang="fa-IR" dirty="0" smtClean="0">
                <a:solidFill>
                  <a:srgbClr val="002060"/>
                </a:solidFill>
                <a:cs typeface="B Nazanin" pitchFamily="2" charset="-78"/>
              </a:rPr>
              <a:t>شهروند           </a:t>
            </a:r>
            <a:r>
              <a:rPr lang="fa-IR" sz="1400" dirty="0" smtClean="0">
                <a:solidFill>
                  <a:srgbClr val="002060"/>
                </a:solidFill>
                <a:cs typeface="B Nazanin" pitchFamily="2" charset="-78"/>
              </a:rPr>
              <a:t>    سفیر                    جمع‌آوری </a:t>
            </a:r>
            <a:r>
              <a:rPr lang="fa-IR" sz="1400" dirty="0">
                <a:solidFill>
                  <a:srgbClr val="002060"/>
                </a:solidFill>
                <a:cs typeface="B Nazanin" pitchFamily="2" charset="-78"/>
              </a:rPr>
              <a:t>در زمان تعیین‌شده</a:t>
            </a:r>
          </a:p>
          <a:p>
            <a:pPr algn="r" rtl="1">
              <a:defRPr sz="1200">
                <a:solidFill>
                  <a:srgbClr val="697380"/>
                </a:solidFill>
                <a:latin typeface="Aptos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63900" y="1347747"/>
            <a:ext cx="10672196" cy="48523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8180" y="1101524"/>
            <a:ext cx="45719" cy="4928573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3714" y="1516249"/>
            <a:ext cx="9126653" cy="2115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b="1" dirty="0">
                <a:solidFill>
                  <a:srgbClr val="DD0987"/>
                </a:solidFill>
                <a:cs typeface="B Nazanin" pitchFamily="2" charset="-78"/>
              </a:rPr>
              <a:t>• اپ شهروند: </a:t>
            </a:r>
            <a:r>
              <a:rPr lang="fa-IR" sz="1400" dirty="0">
                <a:cs typeface="B Nazanin" pitchFamily="2" charset="-78"/>
              </a:rPr>
              <a:t>ثبت درخواست جمع‌آوری </a:t>
            </a:r>
            <a:r>
              <a:rPr lang="fa-IR" sz="1400" dirty="0" smtClean="0">
                <a:cs typeface="B Nazanin" pitchFamily="2" charset="-78"/>
              </a:rPr>
              <a:t>پسماند + باشگاه مشتریان </a:t>
            </a:r>
            <a:endParaRPr lang="fa-IR" sz="1400" dirty="0">
              <a:cs typeface="B Nazanin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itchFamily="2" charset="-78"/>
              </a:rPr>
              <a:t>• انتخاب محل، نوع پسماند و زمان </a:t>
            </a:r>
            <a:r>
              <a:rPr lang="fa-IR" sz="1600" dirty="0" smtClean="0">
                <a:cs typeface="B Nazanin" pitchFamily="2" charset="-78"/>
              </a:rPr>
              <a:t>انتخابی برای جمع‌آوری پسماند</a:t>
            </a:r>
            <a:endParaRPr lang="fa-IR" sz="1600" dirty="0">
              <a:cs typeface="B Nazanin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sz="1600" b="1" dirty="0">
                <a:solidFill>
                  <a:srgbClr val="DD0987"/>
                </a:solidFill>
                <a:cs typeface="B Nazanin" pitchFamily="2" charset="-78"/>
              </a:rPr>
              <a:t>• اپ سفیر: </a:t>
            </a:r>
            <a:r>
              <a:rPr lang="fa-IR" sz="1600" dirty="0">
                <a:cs typeface="B Nazanin" pitchFamily="2" charset="-78"/>
              </a:rPr>
              <a:t>دریافت درخواست‌های ارجاع‌شده و مأموریت‌های برنامه‌ریزی‌شده</a:t>
            </a:r>
          </a:p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itchFamily="2" charset="-78"/>
              </a:rPr>
              <a:t>• سفیر در زمان تعیین‌شده مراجعه کرده و پایان عملیات جمع‌آوری را ثبت می‌کند</a:t>
            </a:r>
          </a:p>
          <a:p>
            <a:pPr algn="r" rtl="1">
              <a:lnSpc>
                <a:spcPct val="150000"/>
              </a:lnSpc>
            </a:pPr>
            <a:r>
              <a:rPr lang="fa-IR" sz="1600" b="1" dirty="0">
                <a:solidFill>
                  <a:srgbClr val="DD0987"/>
                </a:solidFill>
                <a:cs typeface="B Nazanin" pitchFamily="2" charset="-78"/>
              </a:rPr>
              <a:t>• پنل مدیریت: </a:t>
            </a:r>
            <a:r>
              <a:rPr lang="fa-IR" sz="1600" dirty="0">
                <a:cs typeface="B Nazanin" pitchFamily="2" charset="-78"/>
              </a:rPr>
              <a:t>ارجاع مأموریت‌ها، نظارت، گزارش‌گیری و تحلیل عملکرد</a:t>
            </a:r>
          </a:p>
          <a:p>
            <a:pPr algn="r" rtl="1">
              <a:lnSpc>
                <a:spcPct val="150000"/>
              </a:lnSpc>
              <a:defRPr sz="1150">
                <a:solidFill>
                  <a:srgbClr val="2D343C"/>
                </a:solidFill>
                <a:latin typeface="Aptos"/>
              </a:defRPr>
            </a:pPr>
            <a:endParaRPr sz="1100" dirty="0">
              <a:cs typeface="B Nazanin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dirty="0"/>
              <a:t>Investor Presentation  |  5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00" y="2362954"/>
            <a:ext cx="5019065" cy="32553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6" name="Straight Arrow Connector 5"/>
          <p:cNvCxnSpPr/>
          <p:nvPr/>
        </p:nvCxnSpPr>
        <p:spPr>
          <a:xfrm flipH="1">
            <a:off x="10109990" y="867080"/>
            <a:ext cx="32107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9064745" y="867080"/>
            <a:ext cx="58521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43963" y="172928"/>
            <a:ext cx="60923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r>
              <a:rPr lang="fa-IR" dirty="0" smtClean="0">
                <a:solidFill>
                  <a:srgbClr val="833E29"/>
                </a:solidFill>
                <a:cs typeface="B Titr" panose="00000700000000000000" pitchFamily="2" charset="-78"/>
              </a:rPr>
              <a:t>مدیریت </a:t>
            </a:r>
            <a:r>
              <a:rPr lang="fa-IR" dirty="0">
                <a:solidFill>
                  <a:srgbClr val="833E29"/>
                </a:solidFill>
                <a:cs typeface="B Titr" panose="00000700000000000000" pitchFamily="2" charset="-78"/>
              </a:rPr>
              <a:t>رستوران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6242" y="737696"/>
            <a:ext cx="29300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400" dirty="0">
                <a:solidFill>
                  <a:schemeClr val="tx1">
                    <a:lumMod val="95000"/>
                    <a:lumOff val="5000"/>
                  </a:schemeClr>
                </a:solidFill>
                <a:cs typeface="B Nazanin" pitchFamily="2" charset="-78"/>
              </a:rPr>
              <a:t>مدیریت سفارش‌های دیجیتال و عملیات رستوران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9621" y="1227021"/>
            <a:ext cx="11244649" cy="5111996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9458" y="1340895"/>
            <a:ext cx="81379" cy="5218535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22696" y="1340895"/>
            <a:ext cx="90679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مدیریت سفارش‌ها و سوابق مشتریان</a:t>
            </a: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r>
              <a:rPr lang="fa-IR" sz="1600" dirty="0" smtClean="0">
                <a:cs typeface="B Nazanin" pitchFamily="2" charset="-78"/>
              </a:rPr>
              <a:t>مدیریت </a:t>
            </a:r>
            <a:r>
              <a:rPr lang="fa-IR" sz="1600" dirty="0">
                <a:cs typeface="B Nazanin" pitchFamily="2" charset="-78"/>
              </a:rPr>
              <a:t>محصولات، منو و قیمت‌ها</a:t>
            </a: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r>
              <a:rPr lang="fa-IR" sz="1600" dirty="0" smtClean="0">
                <a:cs typeface="B Nazanin" pitchFamily="2" charset="-78"/>
              </a:rPr>
              <a:t> </a:t>
            </a:r>
            <a:r>
              <a:rPr lang="fa-IR" sz="1600" dirty="0">
                <a:cs typeface="B Nazanin" pitchFamily="2" charset="-78"/>
              </a:rPr>
              <a:t>امکانات باشگاه مشتریان و برنامه‌های وفاداری</a:t>
            </a: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r>
              <a:rPr lang="fa-IR" sz="1600" dirty="0" smtClean="0">
                <a:cs typeface="B Nazanin" pitchFamily="2" charset="-78"/>
              </a:rPr>
              <a:t>گزارش‌های </a:t>
            </a:r>
            <a:r>
              <a:rPr lang="fa-IR" sz="1600" dirty="0">
                <a:cs typeface="B Nazanin" pitchFamily="2" charset="-78"/>
              </a:rPr>
              <a:t>عملیاتی و پایش عملکرد</a:t>
            </a: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r>
              <a:rPr lang="fa-IR" sz="1600" dirty="0" smtClean="0">
                <a:cs typeface="B Nazanin" pitchFamily="2" charset="-78"/>
              </a:rPr>
              <a:t> </a:t>
            </a:r>
            <a:r>
              <a:rPr lang="fa-IR" sz="1600" dirty="0">
                <a:cs typeface="B Nazanin" pitchFamily="2" charset="-78"/>
              </a:rPr>
              <a:t>قابلیت توسعه برای سفارش آنلاین و اتصال </a:t>
            </a:r>
            <a:r>
              <a:rPr lang="fa-IR" sz="1600" dirty="0" smtClean="0">
                <a:cs typeface="B Nazanin" pitchFamily="2" charset="-78"/>
              </a:rPr>
              <a:t>به کیوسک سفارش </a:t>
            </a:r>
            <a:r>
              <a:rPr lang="fa-IR" sz="1600" dirty="0" smtClean="0">
                <a:cs typeface="B Nazanin" pitchFamily="2" charset="-78"/>
              </a:rPr>
              <a:t>گیری</a:t>
            </a:r>
            <a:endParaRPr lang="en-US" sz="1600" dirty="0" smtClean="0">
              <a:cs typeface="B Nazanin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endParaRPr lang="en-US" sz="1600" dirty="0">
              <a:cs typeface="B Nazanin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endParaRPr lang="en-US" sz="1600" dirty="0" smtClean="0">
              <a:cs typeface="B Nazanin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endParaRPr lang="en-US" sz="1600" dirty="0">
              <a:cs typeface="B Nazanin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dirty="0"/>
              <a:t>Investor Presentation  |  6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323" y="3249110"/>
            <a:ext cx="5615487" cy="29329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43963" y="172928"/>
            <a:ext cx="60923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r>
              <a:rPr lang="fa-IR" dirty="0" smtClean="0">
                <a:solidFill>
                  <a:srgbClr val="833E29"/>
                </a:solidFill>
                <a:cs typeface="B Titr" panose="00000700000000000000" pitchFamily="2" charset="-78"/>
              </a:rPr>
              <a:t>فروشگاه آنلاین</a:t>
            </a:r>
            <a:endParaRPr lang="fa-IR" dirty="0">
              <a:solidFill>
                <a:srgbClr val="833E29"/>
              </a:solidFill>
              <a:cs typeface="B Titr" panose="000007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06242" y="737696"/>
            <a:ext cx="29300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400" dirty="0">
                <a:solidFill>
                  <a:schemeClr val="tx1">
                    <a:lumMod val="95000"/>
                    <a:lumOff val="5000"/>
                  </a:schemeClr>
                </a:solidFill>
                <a:cs typeface="B Nazanin" pitchFamily="2" charset="-78"/>
              </a:rPr>
              <a:t>مدیریت سفارش‌های دیجیتال </a:t>
            </a:r>
            <a:r>
              <a:rPr lang="fa-IR" sz="1400" dirty="0" smtClean="0">
                <a:solidFill>
                  <a:schemeClr val="tx1">
                    <a:lumMod val="95000"/>
                    <a:lumOff val="5000"/>
                  </a:schemeClr>
                </a:solidFill>
                <a:cs typeface="B Nazanin" pitchFamily="2" charset="-78"/>
              </a:rPr>
              <a:t>و فروش آنلاین</a:t>
            </a:r>
            <a:endParaRPr lang="fa-IR" sz="1400" dirty="0">
              <a:solidFill>
                <a:schemeClr val="tx1">
                  <a:lumMod val="95000"/>
                  <a:lumOff val="5000"/>
                </a:schemeClr>
              </a:solidFill>
              <a:cs typeface="B Nazanin" pitchFamily="2" charset="-7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79621" y="1227021"/>
            <a:ext cx="11244649" cy="5111996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9458" y="1340895"/>
            <a:ext cx="81379" cy="5218535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22696" y="1340895"/>
            <a:ext cx="90679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مدیریت سفارش‌ها و سوابق مشتریان</a:t>
            </a: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r>
              <a:rPr lang="fa-IR" sz="1600" dirty="0" smtClean="0">
                <a:cs typeface="B Nazanin" pitchFamily="2" charset="-78"/>
              </a:rPr>
              <a:t>مدیریت </a:t>
            </a:r>
            <a:r>
              <a:rPr lang="fa-IR" sz="1600" dirty="0">
                <a:cs typeface="B Nazanin" pitchFamily="2" charset="-78"/>
              </a:rPr>
              <a:t>محصولات، منو و قیمت‌ها</a:t>
            </a: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r>
              <a:rPr lang="fa-IR" sz="1600" dirty="0" smtClean="0">
                <a:cs typeface="B Nazanin" pitchFamily="2" charset="-78"/>
              </a:rPr>
              <a:t> </a:t>
            </a:r>
            <a:r>
              <a:rPr lang="fa-IR" sz="1600" dirty="0">
                <a:cs typeface="B Nazanin" pitchFamily="2" charset="-78"/>
              </a:rPr>
              <a:t>امکانات باشگاه مشتریان و برنامه‌های وفاداری</a:t>
            </a: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r>
              <a:rPr lang="fa-IR" sz="1600" dirty="0" smtClean="0">
                <a:cs typeface="B Nazanin" pitchFamily="2" charset="-78"/>
              </a:rPr>
              <a:t>گزارش‌های </a:t>
            </a:r>
            <a:r>
              <a:rPr lang="fa-IR" sz="1600" dirty="0">
                <a:cs typeface="B Nazanin" pitchFamily="2" charset="-78"/>
              </a:rPr>
              <a:t>عملیاتی و پایش عملکرد</a:t>
            </a: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r>
              <a:rPr lang="fa-IR" sz="1600" dirty="0" smtClean="0">
                <a:cs typeface="B Nazanin" pitchFamily="2" charset="-78"/>
              </a:rPr>
              <a:t> </a:t>
            </a:r>
            <a:r>
              <a:rPr lang="fa-IR" sz="1600" dirty="0">
                <a:cs typeface="B Nazanin" pitchFamily="2" charset="-78"/>
              </a:rPr>
              <a:t>قابلیت توسعه برای سفارش آنلاین و اتصال </a:t>
            </a:r>
            <a:r>
              <a:rPr lang="fa-IR" sz="1600" dirty="0" smtClean="0">
                <a:cs typeface="B Nazanin" pitchFamily="2" charset="-78"/>
              </a:rPr>
              <a:t>به </a:t>
            </a:r>
            <a:r>
              <a:rPr lang="fa-IR" sz="1600" dirty="0" smtClean="0">
                <a:cs typeface="B Nazanin" pitchFamily="2" charset="-78"/>
              </a:rPr>
              <a:t>نرم افزار حسابداری</a:t>
            </a:r>
            <a:endParaRPr lang="en-US" sz="1600" dirty="0" smtClean="0">
              <a:cs typeface="B Nazanin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endParaRPr lang="en-US" sz="1600" dirty="0">
              <a:cs typeface="B Nazanin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itchFamily="34" charset="0"/>
              <a:buChar char="•"/>
            </a:pPr>
            <a:endParaRPr lang="en-US" sz="1600" dirty="0" smtClean="0">
              <a:cs typeface="B Nazanin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dirty="0"/>
              <a:t>Investor Presentation  |  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69" y="2575988"/>
            <a:ext cx="5228991" cy="332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52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6657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876" y="298248"/>
            <a:ext cx="5232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r>
              <a:rPr lang="en-US" sz="2400" dirty="0" smtClean="0">
                <a:cs typeface="B Nazanin" pitchFamily="2" charset="-78"/>
              </a:rPr>
              <a:t> CRM</a:t>
            </a:r>
            <a:r>
              <a:rPr lang="en-US" sz="2400" dirty="0" smtClean="0"/>
              <a:t> </a:t>
            </a:r>
            <a:r>
              <a:rPr lang="fa-IR" sz="2400" dirty="0">
                <a:cs typeface="B Nazanin" pitchFamily="2" charset="-78"/>
              </a:rPr>
              <a:t>باشگاه </a:t>
            </a:r>
            <a:r>
              <a:rPr lang="fa-IR" sz="2400" dirty="0" smtClean="0">
                <a:cs typeface="B Nazanin" pitchFamily="2" charset="-78"/>
              </a:rPr>
              <a:t>مشتریان</a:t>
            </a:r>
            <a:endParaRPr lang="fa-IR" sz="2400" dirty="0">
              <a:cs typeface="B Nazanin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5450" y="932688"/>
            <a:ext cx="35125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600" dirty="0">
                <a:solidFill>
                  <a:srgbClr val="F65E1A"/>
                </a:solidFill>
                <a:cs typeface="B Nazanin" pitchFamily="2" charset="-78"/>
              </a:rPr>
              <a:t>مدیریت ارتباط با مشتری، </a:t>
            </a:r>
            <a:r>
              <a:rPr lang="fa-IR" sz="1600" dirty="0" smtClean="0">
                <a:solidFill>
                  <a:srgbClr val="F65E1A"/>
                </a:solidFill>
                <a:cs typeface="B Nazanin" pitchFamily="2" charset="-78"/>
              </a:rPr>
              <a:t>وفادارسازیو </a:t>
            </a:r>
            <a:r>
              <a:rPr lang="fa-IR" sz="1600" dirty="0">
                <a:solidFill>
                  <a:srgbClr val="F65E1A"/>
                </a:solidFill>
                <a:cs typeface="B Nazanin" pitchFamily="2" charset="-78"/>
              </a:rPr>
              <a:t>افزایش تعامل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337560" cy="2057400"/>
          </a:xfrm>
          <a:prstGeom prst="roundRect">
            <a:avLst/>
          </a:prstGeom>
          <a:solidFill>
            <a:srgbClr val="FAFBFD"/>
          </a:solidFill>
          <a:ln w="1778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3337560" cy="2057400"/>
          </a:xfrm>
          <a:prstGeom prst="roundRect">
            <a:avLst/>
          </a:prstGeom>
          <a:solidFill>
            <a:srgbClr val="FAFBFD"/>
          </a:solidFill>
          <a:ln w="1778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51958" y="1061293"/>
            <a:ext cx="7642275" cy="5055454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3398" y="1303020"/>
            <a:ext cx="64008" cy="4343400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2125" y="1127092"/>
            <a:ext cx="67419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r" rtl="1">
              <a:lnSpc>
                <a:spcPct val="150000"/>
              </a:lnSpc>
              <a:buFont typeface="Wingdings" pitchFamily="2" charset="2"/>
              <a:buChar char="ü"/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 smtClean="0">
                <a:cs typeface="B Nazanin" pitchFamily="2" charset="-78"/>
              </a:rPr>
              <a:t>  پروفایل </a:t>
            </a:r>
            <a:r>
              <a:rPr lang="fa-IR" sz="1600" dirty="0">
                <a:cs typeface="B Nazanin" pitchFamily="2" charset="-78"/>
              </a:rPr>
              <a:t>جامع مشتری و سوابق تعاملات</a:t>
            </a:r>
          </a:p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 smtClean="0">
                <a:cs typeface="B Nazanin" pitchFamily="2" charset="-78"/>
              </a:rPr>
              <a:t>دسته‌بندی </a:t>
            </a:r>
            <a:r>
              <a:rPr lang="fa-IR" sz="1600" dirty="0">
                <a:cs typeface="B Nazanin" pitchFamily="2" charset="-78"/>
              </a:rPr>
              <a:t>مشتریان و ارتباط هدفمند با هر گروه</a:t>
            </a:r>
          </a:p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 smtClean="0">
                <a:cs typeface="B Nazanin" pitchFamily="2" charset="-78"/>
              </a:rPr>
              <a:t> </a:t>
            </a:r>
            <a:r>
              <a:rPr lang="fa-IR" sz="1600" dirty="0">
                <a:cs typeface="B Nazanin" pitchFamily="2" charset="-78"/>
              </a:rPr>
              <a:t>مدیریت وفاداری، امتیازها، پاداش‌ها و کمپین‌ها</a:t>
            </a:r>
          </a:p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 smtClean="0">
                <a:cs typeface="B Nazanin" pitchFamily="2" charset="-78"/>
              </a:rPr>
              <a:t> </a:t>
            </a:r>
            <a:r>
              <a:rPr lang="fa-IR" sz="1600" dirty="0">
                <a:cs typeface="B Nazanin" pitchFamily="2" charset="-78"/>
              </a:rPr>
              <a:t>تحلیل خریدها و تعاملات مشتریان</a:t>
            </a:r>
          </a:p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 smtClean="0">
                <a:cs typeface="B Nazanin" pitchFamily="2" charset="-78"/>
              </a:rPr>
              <a:t>امکان </a:t>
            </a:r>
            <a:r>
              <a:rPr lang="fa-IR" sz="1600" dirty="0">
                <a:cs typeface="B Nazanin" pitchFamily="2" charset="-78"/>
              </a:rPr>
              <a:t>اتصال به فروش و سیستم </a:t>
            </a:r>
            <a:endParaRPr sz="1600" dirty="0">
              <a:cs typeface="B Nazanin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43400" y="6153912"/>
            <a:ext cx="7330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b="1" dirty="0">
                <a:solidFill>
                  <a:srgbClr val="7030A0"/>
                </a:solidFill>
                <a:cs typeface="B Nazanin" pitchFamily="2" charset="-78"/>
              </a:rPr>
              <a:t>داده های مشتری را به یک دارایی عملیاتی و تجاری تبدیل کنید</a:t>
            </a:r>
            <a:endParaRPr sz="1600" b="1" dirty="0">
              <a:solidFill>
                <a:srgbClr val="7030A0"/>
              </a:solidFill>
              <a:cs typeface="B Nazanin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t>Investor Presentation  |  7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003" y="3243899"/>
            <a:ext cx="5257253" cy="28627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72" y="1473259"/>
            <a:ext cx="2607655" cy="19557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05" y="3844603"/>
            <a:ext cx="2944988" cy="18928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7590651" y="324593"/>
            <a:ext cx="407781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r>
              <a:rPr lang="en-US" sz="2400" dirty="0" smtClean="0">
                <a:cs typeface="B Nazanin" pitchFamily="2" charset="-78"/>
              </a:rPr>
              <a:t> CRM</a:t>
            </a:r>
            <a:r>
              <a:rPr lang="en-US" dirty="0" smtClean="0">
                <a:cs typeface="B Nazanin" pitchFamily="2" charset="-78"/>
              </a:rPr>
              <a:t> </a:t>
            </a:r>
            <a:r>
              <a:rPr lang="fa-IR" dirty="0">
                <a:cs typeface="B Titr" panose="00000700000000000000" pitchFamily="2" charset="-78"/>
              </a:rPr>
              <a:t>دفاتر </a:t>
            </a:r>
            <a:r>
              <a:rPr lang="fa-IR" dirty="0" smtClean="0">
                <a:cs typeface="B Titr" panose="00000700000000000000" pitchFamily="2" charset="-78"/>
              </a:rPr>
              <a:t>حقوقی</a:t>
            </a:r>
            <a:endParaRPr lang="fa-IR" dirty="0">
              <a:cs typeface="B Titr" panose="000007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3962" y="807357"/>
            <a:ext cx="3246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400" dirty="0">
                <a:solidFill>
                  <a:schemeClr val="accent5">
                    <a:lumMod val="75000"/>
                  </a:schemeClr>
                </a:solidFill>
                <a:cs typeface="B Nazanin" pitchFamily="2" charset="-78"/>
              </a:rPr>
              <a:t>مدیریت امور حقوقی برای دفاتر و سازمان‌ها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337560" cy="2057400"/>
          </a:xfrm>
          <a:prstGeom prst="roundRect">
            <a:avLst/>
          </a:prstGeom>
          <a:solidFill>
            <a:srgbClr val="FAFBFD"/>
          </a:solidFill>
          <a:ln w="17780">
            <a:solidFill>
              <a:srgbClr val="A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1742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97380"/>
                </a:solidFill>
                <a:latin typeface="Aptos"/>
              </a:defRPr>
            </a:pPr>
            <a:r>
              <a:t>PRODUCT IMAGE 1</a:t>
            </a:r>
            <a:br/>
            <a:r>
              <a:t>Place screenshot / UI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3337560" cy="2057400"/>
          </a:xfrm>
          <a:prstGeom prst="roundRect">
            <a:avLst/>
          </a:prstGeom>
          <a:solidFill>
            <a:srgbClr val="FAFBFD"/>
          </a:solidFill>
          <a:ln w="17780">
            <a:solidFill>
              <a:srgbClr val="A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50342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97380"/>
                </a:solidFill>
                <a:latin typeface="Aptos"/>
              </a:defRPr>
            </a:pPr>
            <a:r>
              <a:rPr dirty="0"/>
              <a:t>PRODUCT IMAGE 2</a:t>
            </a:r>
            <a:br>
              <a:rPr dirty="0"/>
            </a:br>
            <a:r>
              <a:rPr dirty="0"/>
              <a:t>Place screenshot / UI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700" y="1417320"/>
            <a:ext cx="7594216" cy="434340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06700" y="1417320"/>
            <a:ext cx="64008" cy="4343400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5152" y="1524922"/>
            <a:ext cx="4455704" cy="200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400" dirty="0">
                <a:cs typeface="B Nazanin" pitchFamily="2" charset="-78"/>
              </a:rPr>
              <a:t>• مدیریت پرونده‌ها و امور حقوقی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cs typeface="B Nazanin" pitchFamily="2" charset="-78"/>
              </a:rPr>
              <a:t>• مدیریت موکلان، وکلا و افراد مرتبط با هر پرونده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cs typeface="B Nazanin" pitchFamily="2" charset="-78"/>
              </a:rPr>
              <a:t>• ثبت قراردادها، اسناد حقوقی و سوابق پرونده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cs typeface="B Nazanin" pitchFamily="2" charset="-78"/>
              </a:rPr>
              <a:t>• مدیریت جلسات دادگاه، مهلت‌ها و قرارهای حقوقی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cs typeface="B Nazanin" pitchFamily="2" charset="-78"/>
              </a:rPr>
              <a:t>• مدیریت مالی، حق‌الوکاله و پیگیری پرداخت‌ها</a:t>
            </a:r>
          </a:p>
          <a:p>
            <a:pPr algn="r" rtl="1">
              <a:lnSpc>
                <a:spcPct val="150000"/>
              </a:lnSpc>
            </a:pPr>
            <a:r>
              <a:rPr lang="fa-IR" sz="1400" dirty="0">
                <a:cs typeface="B Nazanin" pitchFamily="2" charset="-78"/>
              </a:rPr>
              <a:t>• گزارش‌های حقوقی، وضعیت پرونده‌ها و پایش </a:t>
            </a:r>
            <a:r>
              <a:rPr lang="fa-IR" sz="1400" dirty="0" smtClean="0">
                <a:cs typeface="B Nazanin" pitchFamily="2" charset="-78"/>
              </a:rPr>
              <a:t>عملکرد وکلا </a:t>
            </a:r>
            <a:endParaRPr lang="fa-IR" sz="1400" dirty="0">
              <a:cs typeface="B Nazanin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08523" y="5881151"/>
            <a:ext cx="5894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b="1" dirty="0">
                <a:solidFill>
                  <a:srgbClr val="152AC5"/>
                </a:solidFill>
                <a:cs typeface="B Nazanin" pitchFamily="2" charset="-78"/>
              </a:rPr>
              <a:t>هسته‌ای یکپارچه برای اتصال تمام بخش‌های مدیریت پرونده و مشتری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dirty="0"/>
              <a:t>Investor Presentation  |  8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928" y="3550983"/>
            <a:ext cx="3745796" cy="22908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95358"/>
            <a:ext cx="3078093" cy="173244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19" y="3879208"/>
            <a:ext cx="3100186" cy="17567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19784" y="347472"/>
            <a:ext cx="464737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dirty="0" smtClean="0"/>
              <a:t>ERP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202195" y="855303"/>
            <a:ext cx="62003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FFFFFF"/>
                </a:solidFill>
                <a:latin typeface="Aptos"/>
              </a:defRPr>
            </a:pPr>
            <a:r>
              <a:rPr lang="fa-IR" sz="1600" b="1" dirty="0">
                <a:cs typeface="B Nazanin" pitchFamily="2" charset="-78"/>
              </a:rPr>
              <a:t>پلتفرم یکپارچه مدیریت سازمان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15544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64008" cy="1554480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0259" y="1563624"/>
            <a:ext cx="2131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dirty="0">
                <a:cs typeface="B Nazanin" pitchFamily="2" charset="-78"/>
              </a:rPr>
              <a:t>تدارکات و خرید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259" y="2100667"/>
            <a:ext cx="1680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داده و فرایند یکپارچه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5284" y="1431149"/>
            <a:ext cx="2606040" cy="15544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64008" cy="155448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1" y="1563624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dirty="0">
                <a:cs typeface="B Nazanin" pitchFamily="2" charset="-78"/>
              </a:rPr>
              <a:t>باشگاه مشتریان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9384" y="2039112"/>
            <a:ext cx="19770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داده و فرایند یکپارچه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2606040" cy="15544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64008" cy="1554480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563624"/>
            <a:ext cx="21661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dirty="0">
                <a:cs typeface="B Nazanin" pitchFamily="2" charset="-78"/>
              </a:rPr>
              <a:t>حسابداری</a:t>
            </a:r>
            <a:endParaRPr dirty="0">
              <a:cs typeface="B Nazanin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11752" y="2170094"/>
            <a:ext cx="15509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داده و فرایند یکپارچه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417320"/>
            <a:ext cx="2606040" cy="15544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0" y="1417320"/>
            <a:ext cx="64008" cy="1554480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5522" y="1563624"/>
            <a:ext cx="1718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dirty="0">
                <a:cs typeface="B Nazanin" pitchFamily="2" charset="-78"/>
              </a:rPr>
              <a:t>حسابداری بهای تمام‌شده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4703" y="2039112"/>
            <a:ext cx="20981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داده و فرایند یکپارچه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29000"/>
            <a:ext cx="2606040" cy="15544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429000"/>
            <a:ext cx="64008" cy="155448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0418" y="3575304"/>
            <a:ext cx="2111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dirty="0">
                <a:cs typeface="B Nazanin" pitchFamily="2" charset="-78"/>
              </a:rPr>
              <a:t>برنامه‌ریزی و تولید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18" y="4104056"/>
            <a:ext cx="166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400" dirty="0">
                <a:cs typeface="B Nazanin" pitchFamily="2" charset="-78"/>
              </a:rPr>
              <a:t>داده و فرایند یکپارچه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429000"/>
            <a:ext cx="2606040" cy="15544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83280" y="3429000"/>
            <a:ext cx="64008" cy="1554480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9384" y="3575304"/>
            <a:ext cx="2132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dirty="0">
                <a:cs typeface="B Nazanin" pitchFamily="2" charset="-78"/>
              </a:rPr>
              <a:t>تأمین و نگهداری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0595" y="4050791"/>
            <a:ext cx="16444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داده و فرایند یکپارچه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429000"/>
            <a:ext cx="2606040" cy="15544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3429000"/>
            <a:ext cx="64008" cy="1554480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2742" y="3575304"/>
            <a:ext cx="189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کنترل کیفیت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2742" y="4050791"/>
            <a:ext cx="15135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داده و فرایند یکپارچه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429000"/>
            <a:ext cx="2606040" cy="15544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44000" y="3429000"/>
            <a:ext cx="64008" cy="155448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3513" y="3542435"/>
            <a:ext cx="18027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sz="1600" dirty="0" smtClean="0">
                <a:cs typeface="B Nazanin" pitchFamily="2" charset="-78"/>
              </a:rPr>
              <a:t>انبار</a:t>
            </a:r>
            <a:endParaRPr lang="fa-IR" sz="1600" dirty="0">
              <a:cs typeface="B Nazanin" pitchFamily="2" charset="-7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13102" y="4050791"/>
            <a:ext cx="15135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داده و فرایند یکپارچه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36127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dirty="0"/>
              <a:t>Investor Presentation  |  </a:t>
            </a:r>
            <a:r>
              <a:rPr lang="fa-IR" dirty="0" smtClean="0"/>
              <a:t>9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22423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14131" y="401623"/>
            <a:ext cx="416331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r>
              <a:rPr lang="fa-IR" dirty="0" smtClean="0">
                <a:cs typeface="B Titr" panose="00000700000000000000" pitchFamily="2" charset="-78"/>
              </a:rPr>
              <a:t>پلتفرم </a:t>
            </a:r>
            <a:r>
              <a:rPr lang="fa-IR" dirty="0">
                <a:cs typeface="B Titr" panose="00000700000000000000" pitchFamily="2" charset="-78"/>
              </a:rPr>
              <a:t>حرفه‌ای </a:t>
            </a:r>
            <a:r>
              <a:rPr lang="fa-IR" dirty="0" smtClean="0">
                <a:cs typeface="B Titr" panose="00000700000000000000" pitchFamily="2" charset="-78"/>
              </a:rPr>
              <a:t>املاک و مستغلات </a:t>
            </a:r>
            <a:endParaRPr lang="fa-IR" dirty="0">
              <a:cs typeface="B Titr" panose="000007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30728" y="921549"/>
            <a:ext cx="4219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400" dirty="0">
                <a:cs typeface="B Nazanin" pitchFamily="2" charset="-78"/>
              </a:rPr>
              <a:t>بازار تخصصی </a:t>
            </a:r>
            <a:r>
              <a:rPr lang="fa-IR" sz="1400" dirty="0" smtClean="0">
                <a:cs typeface="B Nazanin" pitchFamily="2" charset="-78"/>
              </a:rPr>
              <a:t>املاک  </a:t>
            </a:r>
            <a:r>
              <a:rPr lang="fa-IR" sz="1400" dirty="0">
                <a:cs typeface="B Nazanin" pitchFamily="2" charset="-78"/>
              </a:rPr>
              <a:t>به‌همراه </a:t>
            </a:r>
            <a:r>
              <a:rPr lang="en-US" sz="1400" dirty="0" smtClean="0">
                <a:cs typeface="B Nazanin" pitchFamily="2" charset="-78"/>
              </a:rPr>
              <a:t> CRM </a:t>
            </a:r>
            <a:r>
              <a:rPr lang="fa-IR" sz="1400" dirty="0">
                <a:cs typeface="B Nazanin" pitchFamily="2" charset="-78"/>
              </a:rPr>
              <a:t>حرفه‌ای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337560" cy="2057400"/>
          </a:xfrm>
          <a:prstGeom prst="roundRect">
            <a:avLst/>
          </a:prstGeom>
          <a:solidFill>
            <a:srgbClr val="FAFBFD"/>
          </a:solidFill>
          <a:ln w="17780">
            <a:solidFill>
              <a:srgbClr val="A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1742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97380"/>
                </a:solidFill>
                <a:latin typeface="Aptos"/>
              </a:defRPr>
            </a:pPr>
            <a:r>
              <a:t>PRODUCT IMAGE 1</a:t>
            </a:r>
            <a:br/>
            <a:r>
              <a:t>Place screenshot / UI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3337560" cy="2057400"/>
          </a:xfrm>
          <a:prstGeom prst="roundRect">
            <a:avLst/>
          </a:prstGeom>
          <a:solidFill>
            <a:srgbClr val="FAFBFD"/>
          </a:solidFill>
          <a:ln w="17780">
            <a:solidFill>
              <a:srgbClr val="A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50342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97380"/>
                </a:solidFill>
                <a:latin typeface="Aptos"/>
              </a:defRPr>
            </a:pPr>
            <a:r>
              <a:t>PRODUCT IMAGE 2</a:t>
            </a:r>
            <a:br/>
            <a:r>
              <a:t>Place screenshot / UI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8243" y="1417320"/>
            <a:ext cx="7328917" cy="434340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1572" y="1620391"/>
            <a:ext cx="64393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• </a:t>
            </a:r>
            <a:r>
              <a:rPr lang="fa-IR" sz="1600" dirty="0" smtClean="0">
                <a:cs typeface="B Nazanin" pitchFamily="2" charset="-78"/>
              </a:rPr>
              <a:t>ثبت </a:t>
            </a:r>
            <a:r>
              <a:rPr lang="fa-IR" sz="1600" dirty="0">
                <a:cs typeface="B Nazanin" pitchFamily="2" charset="-78"/>
              </a:rPr>
              <a:t>آگهی‌های </a:t>
            </a:r>
            <a:r>
              <a:rPr lang="fa-IR" sz="1600" dirty="0" smtClean="0">
                <a:cs typeface="B Nazanin" pitchFamily="2" charset="-78"/>
              </a:rPr>
              <a:t>حرفه‌ای املاک با </a:t>
            </a:r>
            <a:r>
              <a:rPr lang="fa-IR" sz="1600" dirty="0">
                <a:cs typeface="B Nazanin" pitchFamily="2" charset="-78"/>
              </a:rPr>
              <a:t>مشخصات دقیق و </a:t>
            </a:r>
            <a:r>
              <a:rPr lang="fa-IR" sz="1600" dirty="0" smtClean="0">
                <a:cs typeface="B Nazanin" pitchFamily="2" charset="-78"/>
              </a:rPr>
              <a:t>ساختاریافته</a:t>
            </a:r>
          </a:p>
          <a:p>
            <a:pPr algn="r" rtl="1">
              <a:lnSpc>
                <a:spcPct val="150000"/>
              </a:lnSpc>
            </a:pPr>
            <a:r>
              <a:rPr lang="fa-IR" sz="1600" dirty="0" smtClean="0">
                <a:cs typeface="B Nazanin" pitchFamily="2" charset="-78"/>
              </a:rPr>
              <a:t>• جست‌وجو و فیلتر ملک بر اساس معیارهای تخصصی</a:t>
            </a:r>
          </a:p>
          <a:p>
            <a:pPr algn="r" rtl="1">
              <a:lnSpc>
                <a:spcPct val="150000"/>
              </a:lnSpc>
            </a:pPr>
            <a:r>
              <a:rPr lang="fa-IR" sz="1600" dirty="0" smtClean="0">
                <a:cs typeface="B Nazanin" pitchFamily="2" charset="-78"/>
              </a:rPr>
              <a:t>• </a:t>
            </a:r>
            <a:r>
              <a:rPr lang="en-US" sz="1600" dirty="0" smtClean="0">
                <a:cs typeface="B Nazanin" pitchFamily="2" charset="-78"/>
              </a:rPr>
              <a:t> CRM </a:t>
            </a:r>
            <a:r>
              <a:rPr lang="fa-IR" sz="1600" dirty="0" smtClean="0">
                <a:cs typeface="B Nazanin" pitchFamily="2" charset="-78"/>
              </a:rPr>
              <a:t>مشتریان، خریداران و فروشندگان</a:t>
            </a:r>
          </a:p>
          <a:p>
            <a:pPr algn="r" rtl="1">
              <a:lnSpc>
                <a:spcPct val="150000"/>
              </a:lnSpc>
            </a:pPr>
            <a:r>
              <a:rPr lang="fa-IR" sz="1600" dirty="0" smtClean="0">
                <a:cs typeface="B Nazanin" pitchFamily="2" charset="-78"/>
              </a:rPr>
              <a:t>• مدیریت سرنخ‌ها، درخواست‌ها و پیگیری‌ها</a:t>
            </a:r>
          </a:p>
          <a:p>
            <a:pPr algn="r" rtl="1">
              <a:lnSpc>
                <a:spcPct val="150000"/>
              </a:lnSpc>
            </a:pPr>
            <a:r>
              <a:rPr lang="fa-IR" sz="1600" dirty="0" smtClean="0">
                <a:cs typeface="B Nazanin" pitchFamily="2" charset="-78"/>
              </a:rPr>
              <a:t>• تطبیق ملک با نیاز مشتری و مدیریت فرایند فروش</a:t>
            </a:r>
            <a:endParaRPr lang="fa-IR" dirty="0" smtClean="0">
              <a:cs typeface="B Nazanin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51894" y="5860469"/>
            <a:ext cx="60387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200" b="1" dirty="0">
                <a:solidFill>
                  <a:srgbClr val="00B050"/>
                </a:solidFill>
                <a:cs typeface="B Nazanin" pitchFamily="2" charset="-78"/>
              </a:rPr>
              <a:t>طراحی‌شده به عنوان یک پلتفرم تخصصی، نه صرفاً یک وب‌سایت عمومی نیازمندی‌ها</a:t>
            </a:r>
            <a:endParaRPr sz="1200" b="1" dirty="0">
              <a:solidFill>
                <a:srgbClr val="00B050"/>
              </a:solidFill>
              <a:cs typeface="B Nazanin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41897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dirty="0"/>
              <a:t>Investor Presentation  |  </a:t>
            </a:r>
            <a:r>
              <a:rPr lang="fa-IR" dirty="0" smtClean="0"/>
              <a:t>10</a:t>
            </a:r>
            <a:endParaRPr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572" y="3494336"/>
            <a:ext cx="3640990" cy="23167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83320"/>
            <a:ext cx="3129307" cy="176338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754" y="3773524"/>
            <a:ext cx="2876951" cy="190050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206239" y="1330482"/>
            <a:ext cx="64008" cy="448056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1" y="5486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462032" y="347472"/>
            <a:ext cx="210512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r>
              <a:rPr lang="fa-IR" dirty="0" smtClean="0">
                <a:cs typeface="B Titr" panose="00000700000000000000" pitchFamily="2" charset="-78"/>
              </a:rPr>
              <a:t>بازار </a:t>
            </a:r>
            <a:r>
              <a:rPr lang="fa-IR" dirty="0" smtClean="0">
                <a:cs typeface="B Titr" panose="00000700000000000000" pitchFamily="2" charset="-78"/>
              </a:rPr>
              <a:t>آنلاین </a:t>
            </a:r>
            <a:r>
              <a:rPr lang="fa-IR" dirty="0">
                <a:cs typeface="B Titr" panose="00000700000000000000" pitchFamily="2" charset="-78"/>
              </a:rPr>
              <a:t>طلا</a:t>
            </a:r>
          </a:p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endParaRPr dirty="0">
              <a:cs typeface="B Titr" panose="000007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1" y="858565"/>
            <a:ext cx="3063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400" b="1" dirty="0">
                <a:solidFill>
                  <a:srgbClr val="4E1C41"/>
                </a:solidFill>
                <a:cs typeface="B Nazanin" pitchFamily="2" charset="-78"/>
              </a:rPr>
              <a:t>پلتفرم دیجیتال حرفه‌ای برای خرید و فروش طلا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3337560" cy="2057400"/>
          </a:xfrm>
          <a:prstGeom prst="roundRect">
            <a:avLst/>
          </a:prstGeom>
          <a:solidFill>
            <a:srgbClr val="FAFBFD"/>
          </a:solidFill>
          <a:ln w="17780">
            <a:solidFill>
              <a:srgbClr val="A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50342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97380"/>
                </a:solidFill>
                <a:latin typeface="Aptos"/>
              </a:defRPr>
            </a:pPr>
            <a:r>
              <a:t>PRODUCT IMAGE 2</a:t>
            </a:r>
            <a:br/>
            <a:r>
              <a:t>Place screenshot / UI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2524" y="1197582"/>
            <a:ext cx="7461010" cy="4549758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28516" y="1269015"/>
            <a:ext cx="64008" cy="4343400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85255" y="1344623"/>
            <a:ext cx="577734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itchFamily="2" charset="-78"/>
              </a:rPr>
              <a:t>• فرایند خرید و فروش و مدیریت سفارش‌ها</a:t>
            </a:r>
          </a:p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itchFamily="2" charset="-78"/>
              </a:rPr>
              <a:t>• امکان اتصال به قیمت‌ها و داده‌های بازار</a:t>
            </a:r>
          </a:p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itchFamily="2" charset="-78"/>
              </a:rPr>
              <a:t>• حساب مشتری و سوابق معاملات</a:t>
            </a:r>
          </a:p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itchFamily="2" charset="-78"/>
              </a:rPr>
              <a:t>• امکان مدیریت نمایندگان، شعب و موجودی</a:t>
            </a:r>
          </a:p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itchFamily="2" charset="-78"/>
              </a:rPr>
              <a:t>• قابلیت اتصال به پرداخت، تسویه و </a:t>
            </a:r>
            <a:r>
              <a:rPr lang="fa-IR" sz="1600" dirty="0" smtClean="0">
                <a:cs typeface="B Nazanin" pitchFamily="2" charset="-78"/>
              </a:rPr>
              <a:t>گزارش‌گیری خرید و فروش </a:t>
            </a:r>
            <a:endParaRPr lang="fa-IR" sz="1600" dirty="0">
              <a:cs typeface="B Nazanin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44995" y="5942638"/>
            <a:ext cx="6345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200" b="1" dirty="0">
                <a:cs typeface="B Nazanin" pitchFamily="2" charset="-78"/>
              </a:rPr>
              <a:t>ساختار منعطف سامانه، امکان توسعه و پشتیبانی از مدل‌های مختلف کسب‌وکار؛ از بازار آنلاین و شبکه </a:t>
            </a:r>
            <a:r>
              <a:rPr lang="fa-IR" sz="1200" b="1" dirty="0" smtClean="0">
                <a:cs typeface="B Nazanin" pitchFamily="2" charset="-78"/>
              </a:rPr>
              <a:t>تامین کنندگان  </a:t>
            </a:r>
            <a:r>
              <a:rPr lang="fa-IR" sz="1200" b="1" dirty="0">
                <a:cs typeface="B Nazanin" pitchFamily="2" charset="-78"/>
              </a:rPr>
              <a:t>تا تجارت دیجیتال را فراهم می‌کند.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41096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dirty="0"/>
              <a:t>Investor Presentation  |  </a:t>
            </a:r>
            <a:r>
              <a:rPr lang="fa-IR" dirty="0" smtClean="0"/>
              <a:t>11</a:t>
            </a:r>
            <a:endParaRPr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995" y="3316576"/>
            <a:ext cx="5136270" cy="23569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59" y="1367618"/>
            <a:ext cx="2262811" cy="21162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60" y="3589020"/>
            <a:ext cx="3360880" cy="24653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92127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70899" y="201586"/>
            <a:ext cx="562590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700" b="1">
                <a:solidFill>
                  <a:srgbClr val="101C30"/>
                </a:solidFill>
                <a:latin typeface="Aptos Display"/>
              </a:defRPr>
            </a:pPr>
            <a:r>
              <a:rPr lang="fa-IR" dirty="0" smtClean="0">
                <a:solidFill>
                  <a:srgbClr val="7030A0"/>
                </a:solidFill>
                <a:cs typeface="B Titr" panose="00000700000000000000" pitchFamily="2" charset="-78"/>
              </a:rPr>
              <a:t>باشگاه </a:t>
            </a:r>
            <a:r>
              <a:rPr lang="fa-IR" dirty="0">
                <a:solidFill>
                  <a:srgbClr val="7030A0"/>
                </a:solidFill>
                <a:cs typeface="B Titr" panose="00000700000000000000" pitchFamily="2" charset="-78"/>
              </a:rPr>
              <a:t>ورزشی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1201" y="810327"/>
            <a:ext cx="32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400" dirty="0">
                <a:solidFill>
                  <a:schemeClr val="tx1">
                    <a:lumMod val="95000"/>
                    <a:lumOff val="5000"/>
                  </a:schemeClr>
                </a:solidFill>
                <a:cs typeface="B Nazanin" pitchFamily="2" charset="-78"/>
              </a:rPr>
              <a:t>نرم‌افزار جامع مدیریت مجموعه‌های ورزشی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5291" y="1367680"/>
            <a:ext cx="7691466" cy="452356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596794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C30"/>
                </a:solidFill>
                <a:latin typeface="Aptos"/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450457" y="1468590"/>
            <a:ext cx="6057125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itchFamily="2" charset="-78"/>
              </a:rPr>
              <a:t>• مدیریت اعضا و مشتریان</a:t>
            </a:r>
          </a:p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itchFamily="2" charset="-78"/>
              </a:rPr>
              <a:t>• مدیریت کلاس‌ها، برنامه‌ها و رزروها</a:t>
            </a:r>
          </a:p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itchFamily="2" charset="-78"/>
              </a:rPr>
              <a:t>• مدیریت مربیان، کارکنان و </a:t>
            </a:r>
            <a:r>
              <a:rPr lang="fa-IR" sz="1600" dirty="0" smtClean="0">
                <a:cs typeface="B Nazanin" pitchFamily="2" charset="-78"/>
              </a:rPr>
              <a:t>کمیسیون‌های پرداختی </a:t>
            </a:r>
            <a:endParaRPr lang="fa-IR" sz="1600" dirty="0">
              <a:cs typeface="B Nazanin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itchFamily="2" charset="-78"/>
              </a:rPr>
              <a:t>• پرداخت‌ها، اشتراک‌ها و سوابق </a:t>
            </a:r>
            <a:r>
              <a:rPr lang="fa-IR" sz="1600" dirty="0" smtClean="0">
                <a:cs typeface="B Nazanin" pitchFamily="2" charset="-78"/>
              </a:rPr>
              <a:t>مالی</a:t>
            </a:r>
            <a:endParaRPr lang="fa-IR" sz="1600" dirty="0" smtClean="0">
              <a:cs typeface="B Nazanin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41897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dirty="0"/>
              <a:t>Investor Presentation  |  </a:t>
            </a:r>
            <a:r>
              <a:rPr lang="fa-IR" dirty="0" smtClean="0"/>
              <a:t>12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118" y="3204792"/>
            <a:ext cx="5467006" cy="26864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79" y="1367680"/>
            <a:ext cx="3596826" cy="20613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707027" y="3731741"/>
            <a:ext cx="8649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fa-I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97" y="3586548"/>
            <a:ext cx="3720392" cy="23046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Rectangle 20"/>
          <p:cNvSpPr/>
          <p:nvPr/>
        </p:nvSpPr>
        <p:spPr>
          <a:xfrm>
            <a:off x="4665291" y="1904571"/>
            <a:ext cx="64008" cy="3618043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3195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5481" y="1331018"/>
            <a:ext cx="3326439" cy="4645318"/>
          </a:xfrm>
          <a:prstGeom prst="roundRect">
            <a:avLst>
              <a:gd name="adj" fmla="val 14383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9144" y="1315252"/>
            <a:ext cx="3629180" cy="4645317"/>
          </a:xfrm>
          <a:prstGeom prst="roundRect">
            <a:avLst>
              <a:gd name="adj" fmla="val 14383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defRPr sz="1150">
                <a:solidFill>
                  <a:srgbClr val="2D343C"/>
                </a:solidFill>
                <a:latin typeface="Aptos"/>
              </a:defRPr>
            </a:pPr>
            <a:endParaRPr lang="fa-IR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53168" y="1315252"/>
            <a:ext cx="3249828" cy="4645318"/>
          </a:xfrm>
          <a:prstGeom prst="roundRect">
            <a:avLst>
              <a:gd name="adj" fmla="val 14383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sz="1100" dirty="0">
              <a:solidFill>
                <a:schemeClr val="tx1"/>
              </a:solidFill>
              <a:cs typeface="B Nazanin" pitchFamily="2" charset="-7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299" y="3890209"/>
            <a:ext cx="2845566" cy="18833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092" y="3588913"/>
            <a:ext cx="2950357" cy="19698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/>
          <p:cNvSpPr txBox="1"/>
          <p:nvPr/>
        </p:nvSpPr>
        <p:spPr>
          <a:xfrm>
            <a:off x="1124464" y="291763"/>
            <a:ext cx="9372601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fa-IR" sz="2400" b="1" dirty="0">
                <a:cs typeface="B Nazanin" pitchFamily="2" charset="-78"/>
              </a:rPr>
              <a:t>فرصت </a:t>
            </a:r>
            <a:r>
              <a:rPr lang="fa-IR" sz="2400" b="1" dirty="0" smtClean="0">
                <a:cs typeface="B Nazanin" pitchFamily="2" charset="-78"/>
              </a:rPr>
              <a:t>سرمایه‌گذاری</a:t>
            </a:r>
            <a:endParaRPr lang="fa-IR" sz="2400" b="1" dirty="0">
              <a:cs typeface="B Nazanin" pitchFamily="2" charset="-7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74789" y="833527"/>
            <a:ext cx="7068065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400" b="1" dirty="0">
                <a:cs typeface="B Nazanin" pitchFamily="2" charset="-78"/>
              </a:rPr>
              <a:t>سرمایه‌گذاری برای بومی‌سازی محصولات و توسعه بازار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437" y="3376945"/>
            <a:ext cx="2314357" cy="23238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TextBox 16"/>
          <p:cNvSpPr txBox="1"/>
          <p:nvPr/>
        </p:nvSpPr>
        <p:spPr>
          <a:xfrm>
            <a:off x="8439667" y="1974635"/>
            <a:ext cx="2961198" cy="171970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200" b="1" dirty="0">
                <a:cs typeface="B Nazanin" pitchFamily="2" charset="-78"/>
              </a:rPr>
              <a:t>بومی‌سازی زبان و محصول</a:t>
            </a:r>
          </a:p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>
                <a:cs typeface="B Nazanin" pitchFamily="2" charset="-78"/>
              </a:rPr>
              <a:t>قابلیت‌های متناسب با بازار</a:t>
            </a:r>
          </a:p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>
                <a:cs typeface="B Nazanin" pitchFamily="2" charset="-78"/>
              </a:rPr>
              <a:t>اتصال به سامانه‌های موردنیاز</a:t>
            </a:r>
          </a:p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>
                <a:cs typeface="B Nazanin" pitchFamily="2" charset="-78"/>
              </a:rPr>
              <a:t>طراحی و بسته‌بندی محصولات</a:t>
            </a:r>
          </a:p>
          <a:p>
            <a:pPr marL="171450" indent="-171450" algn="r" rtl="1">
              <a:lnSpc>
                <a:spcPct val="150000"/>
              </a:lnSpc>
              <a:buFont typeface="Wingdings" pitchFamily="2" charset="2"/>
              <a:buChar char="ü"/>
            </a:pPr>
            <a:endParaRPr lang="fa-IR" sz="1050" dirty="0">
              <a:cs typeface="B Nazanin" pitchFamily="2" charset="-78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0" y="1569308"/>
            <a:ext cx="271406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dirty="0" smtClean="0">
                <a:cs typeface="B Titr" panose="00000700000000000000" pitchFamily="2" charset="-78"/>
              </a:rPr>
              <a:t>1- محصول </a:t>
            </a:r>
            <a:endParaRPr lang="fa-IR" dirty="0">
              <a:cs typeface="B Titr" panose="00000700000000000000" pitchFamily="2" charset="-7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60788" y="1907861"/>
            <a:ext cx="3150974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171450" indent="-171450" algn="r" rtl="1">
              <a:lnSpc>
                <a:spcPct val="150000"/>
              </a:lnSpc>
              <a:buFont typeface="Wingdings" pitchFamily="2" charset="2"/>
              <a:buChar char="ü"/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 smtClean="0">
                <a:cs typeface="B Nazanin" pitchFamily="2" charset="-78"/>
              </a:rPr>
              <a:t>      فروش محلی</a:t>
            </a:r>
            <a:endParaRPr lang="fa-IR" sz="1600" dirty="0">
              <a:cs typeface="B Nazanin" pitchFamily="2" charset="-78"/>
            </a:endParaRPr>
          </a:p>
          <a:p>
            <a:pPr marL="342900" indent="-34290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 smtClean="0">
                <a:cs typeface="B Nazanin" pitchFamily="2" charset="-78"/>
              </a:rPr>
              <a:t>همکاری‌های تجاری</a:t>
            </a:r>
          </a:p>
          <a:p>
            <a:pPr marL="342900" indent="-34290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 smtClean="0">
                <a:cs typeface="B Nazanin" pitchFamily="2" charset="-78"/>
              </a:rPr>
              <a:t>مشتریان پایلوت</a:t>
            </a:r>
          </a:p>
          <a:p>
            <a:pPr marL="342900" indent="-34290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 smtClean="0">
                <a:cs typeface="B Nazanin" pitchFamily="2" charset="-78"/>
              </a:rPr>
              <a:t>بازاریابی</a:t>
            </a:r>
            <a:endParaRPr lang="fa-IR" sz="1600" dirty="0">
              <a:cs typeface="B Nazanin" pitchFamily="2" charset="-78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30346" y="1569308"/>
            <a:ext cx="268141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dirty="0" smtClean="0">
                <a:cs typeface="B Titr" panose="00000700000000000000" pitchFamily="2" charset="-78"/>
              </a:rPr>
              <a:t>2- ورود </a:t>
            </a:r>
            <a:r>
              <a:rPr lang="fa-IR" dirty="0">
                <a:cs typeface="B Titr" panose="00000700000000000000" pitchFamily="2" charset="-78"/>
              </a:rPr>
              <a:t>به </a:t>
            </a:r>
            <a:r>
              <a:rPr lang="fa-IR" dirty="0" smtClean="0">
                <a:cs typeface="B Titr" panose="00000700000000000000" pitchFamily="2" charset="-78"/>
              </a:rPr>
              <a:t>بازار</a:t>
            </a:r>
            <a:endParaRPr lang="fa-IR" dirty="0">
              <a:cs typeface="B Titr" panose="00000700000000000000" pitchFamily="2" charset="-7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9520" y="1818286"/>
            <a:ext cx="3002691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  <a:defRPr sz="1150">
                <a:solidFill>
                  <a:srgbClr val="2D343C"/>
                </a:solidFill>
                <a:latin typeface="Aptos"/>
              </a:defRPr>
            </a:pPr>
            <a:r>
              <a:rPr lang="fa-IR" sz="1600" dirty="0">
                <a:cs typeface="B Nazanin" pitchFamily="2" charset="-78"/>
              </a:rPr>
              <a:t>زیرساخت و ظرفیت فنی</a:t>
            </a:r>
          </a:p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 smtClean="0">
                <a:cs typeface="B Nazanin" pitchFamily="2" charset="-78"/>
              </a:rPr>
              <a:t>تیم پشتیبانی</a:t>
            </a:r>
          </a:p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 smtClean="0">
                <a:cs typeface="B Nazanin" pitchFamily="2" charset="-78"/>
              </a:rPr>
              <a:t>موفقیت </a:t>
            </a:r>
            <a:r>
              <a:rPr lang="fa-IR" sz="1600" dirty="0">
                <a:cs typeface="B Nazanin" pitchFamily="2" charset="-78"/>
              </a:rPr>
              <a:t>و رضایت مشتریان</a:t>
            </a:r>
          </a:p>
          <a:p>
            <a:pPr marL="285750" indent="-2857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1600" dirty="0" smtClean="0">
                <a:cs typeface="B Nazanin" pitchFamily="2" charset="-78"/>
              </a:rPr>
              <a:t>گسترش فعالیت در شهرهای مختلف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973" y="1569307"/>
            <a:ext cx="2866768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sz="1600" dirty="0" smtClean="0">
                <a:cs typeface="B Titr" panose="00000700000000000000" pitchFamily="2" charset="-78"/>
              </a:rPr>
              <a:t>3- توسعه مقیاس </a:t>
            </a:r>
            <a:endParaRPr lang="fa-IR" sz="1600" dirty="0">
              <a:cs typeface="B Titr" panose="00000700000000000000" pitchFamily="2" charset="-78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2585" y="1412253"/>
            <a:ext cx="64008" cy="4480560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06240" y="1417320"/>
            <a:ext cx="64008" cy="448056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87800" y="1412253"/>
            <a:ext cx="64008" cy="4480560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4973" y="6178378"/>
            <a:ext cx="1418978" cy="21544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lang="en-US" dirty="0"/>
              <a:t>Investor Presentation  |  </a:t>
            </a:r>
            <a:r>
              <a:rPr lang="en-US" dirty="0" smtClean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65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87" y="28650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1914" y="236261"/>
            <a:ext cx="10911016" cy="5078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rtl="1">
              <a:defRPr sz="2700" b="1">
                <a:solidFill>
                  <a:srgbClr val="101C30"/>
                </a:solidFill>
                <a:latin typeface="Aptos Display"/>
              </a:defRPr>
            </a:pPr>
            <a:r>
              <a:rPr lang="fa-IR" dirty="0">
                <a:cs typeface="B Nazanin" pitchFamily="2" charset="-78"/>
              </a:rPr>
              <a:t>فرصت </a:t>
            </a:r>
            <a:r>
              <a:rPr lang="fa-IR" sz="2400" dirty="0">
                <a:cs typeface="B Nazanin" pitchFamily="2" charset="-78"/>
              </a:rPr>
              <a:t>سرمایه‌گذاری</a:t>
            </a:r>
            <a:endParaRPr lang="fa-IR" dirty="0">
              <a:cs typeface="B Nazanin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0" y="753678"/>
            <a:ext cx="44074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600" dirty="0">
                <a:solidFill>
                  <a:schemeClr val="accent3">
                    <a:lumMod val="50000"/>
                  </a:schemeClr>
                </a:solidFill>
                <a:cs typeface="B Nazanin" pitchFamily="2" charset="-78"/>
              </a:rPr>
              <a:t>سرمایه‌گذاری برای بومی‌سازی محصولات و توسعه </a:t>
            </a:r>
            <a:r>
              <a:rPr lang="fa-IR" sz="1600" dirty="0" smtClean="0">
                <a:solidFill>
                  <a:schemeClr val="accent3">
                    <a:lumMod val="50000"/>
                  </a:schemeClr>
                </a:solidFill>
                <a:cs typeface="B Nazanin" pitchFamily="2" charset="-78"/>
              </a:rPr>
              <a:t>بازار</a:t>
            </a:r>
            <a:endParaRPr lang="fa-IR" sz="1600" dirty="0">
              <a:solidFill>
                <a:schemeClr val="accent3">
                  <a:lumMod val="50000"/>
                </a:schemeClr>
              </a:solidFill>
              <a:cs typeface="B Nazanin" pitchFamily="2" charset="-7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315253"/>
            <a:ext cx="3246120" cy="4480560"/>
          </a:xfrm>
          <a:prstGeom prst="roundRect">
            <a:avLst>
              <a:gd name="adj" fmla="val 14383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1792" y="1949440"/>
            <a:ext cx="45719" cy="3482640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61536" y="1563624"/>
            <a:ext cx="26332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400" b="1">
                <a:solidFill>
                  <a:srgbClr val="101C30"/>
                </a:solidFill>
                <a:latin typeface="Aptos"/>
              </a:defRPr>
            </a:pPr>
            <a:r>
              <a:rPr lang="fa-IR" sz="1600" dirty="0" smtClean="0">
                <a:cs typeface="B Titr" panose="00000700000000000000" pitchFamily="2" charset="-78"/>
              </a:rPr>
              <a:t>6.</a:t>
            </a:r>
            <a:r>
              <a:rPr lang="fa-IR" sz="1600" b="1" dirty="0">
                <a:cs typeface="B Titr" panose="00000700000000000000" pitchFamily="2" charset="-78"/>
              </a:rPr>
              <a:t> توسعه راهکارهای حمل‌ونقل</a:t>
            </a:r>
            <a:endParaRPr sz="1600" dirty="0">
              <a:cs typeface="B Titr" panose="00000700000000000000" pitchFamily="2" charset="-7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3596" y="1971576"/>
            <a:ext cx="2496064" cy="338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200" dirty="0" smtClean="0">
                <a:cs typeface="B Nazanin" pitchFamily="2" charset="-78"/>
              </a:rPr>
              <a:t>حمل‌ونقل </a:t>
            </a:r>
            <a:r>
              <a:rPr lang="fa-IR" sz="1200" dirty="0">
                <a:cs typeface="B Nazanin" pitchFamily="2" charset="-78"/>
              </a:rPr>
              <a:t>یکی از حوزه‌های اصلی محصولات </a:t>
            </a:r>
            <a:r>
              <a:rPr lang="fa-IR" sz="1200" dirty="0" smtClean="0">
                <a:cs typeface="B Nazanin" pitchFamily="2" charset="-78"/>
              </a:rPr>
              <a:t>شرکت </a:t>
            </a:r>
            <a:r>
              <a:rPr lang="fa-IR" sz="1200" dirty="0">
                <a:cs typeface="B Nazanin" pitchFamily="2" charset="-78"/>
              </a:rPr>
              <a:t>است و راهکار آن بخش‌هایی مانند مسافر، راننده و مدیریت اعزام را دربرمی‌گیرد.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امکاناتی مانند ثبت سفر، مدیریت رانندگان، مسیریابی و پایش وضعیت، هسته اصلی این سامانه را تشکیل می‌دهند.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این زیرساخت می‌تواند متناسب با نیاز مجموعه‌های مختلف حمل‌ونقلی توسعه پیدا کند.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تمرکز بر بازارهای تخصصی حمل‌ونقل و ناوگان، مسیر مشخصی برای توسعه این محصول ایجاد می‌کند. </a:t>
            </a:r>
          </a:p>
          <a:p>
            <a:pPr algn="just" rtl="1">
              <a:lnSpc>
                <a:spcPct val="150000"/>
              </a:lnSpc>
              <a:defRPr sz="1150">
                <a:solidFill>
                  <a:srgbClr val="2D343C"/>
                </a:solidFill>
                <a:latin typeface="Aptos"/>
              </a:defRPr>
            </a:pPr>
            <a:endParaRPr sz="1000" dirty="0">
              <a:cs typeface="B Nazanin" pitchFamily="2" charset="-7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06240" y="1417320"/>
            <a:ext cx="3246120" cy="448056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45719" cy="3720974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10033" y="1633022"/>
            <a:ext cx="2205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b="1" dirty="0" smtClean="0">
                <a:cs typeface="B Titr" panose="00000700000000000000" pitchFamily="2" charset="-78"/>
              </a:rPr>
              <a:t>5. </a:t>
            </a:r>
            <a:r>
              <a:rPr lang="fa-IR" b="1" dirty="0">
                <a:cs typeface="B Titr" panose="00000700000000000000" pitchFamily="2" charset="-78"/>
              </a:rPr>
              <a:t>گسترش بازار سازمانی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696" y="2110163"/>
            <a:ext cx="26234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200" dirty="0" smtClean="0">
                <a:cs typeface="B Nazanin" pitchFamily="2" charset="-78"/>
              </a:rPr>
              <a:t>بخش </a:t>
            </a:r>
            <a:r>
              <a:rPr lang="fa-IR" sz="1200" dirty="0">
                <a:cs typeface="B Nazanin" pitchFamily="2" charset="-78"/>
              </a:rPr>
              <a:t>قابل‌توجهی از </a:t>
            </a:r>
            <a:r>
              <a:rPr lang="fa-IR" sz="1200" dirty="0" smtClean="0">
                <a:cs typeface="B Nazanin" pitchFamily="2" charset="-78"/>
              </a:rPr>
              <a:t>محصولات شرکت  برای </a:t>
            </a:r>
            <a:r>
              <a:rPr lang="fa-IR" sz="1200" dirty="0">
                <a:cs typeface="B Nazanin" pitchFamily="2" charset="-78"/>
              </a:rPr>
              <a:t>مدیریت فرآیندهای عملیاتی و سازمانی طراحی شده‌اند.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راهکارهایی مانند </a:t>
            </a:r>
            <a:r>
              <a:rPr lang="en-US" sz="1200" dirty="0">
                <a:cs typeface="B Nazanin" pitchFamily="2" charset="-78"/>
              </a:rPr>
              <a:t>ERP، </a:t>
            </a:r>
            <a:r>
              <a:rPr lang="fa-IR" sz="1200" dirty="0">
                <a:cs typeface="B Nazanin" pitchFamily="2" charset="-78"/>
              </a:rPr>
              <a:t>حسابداری، مدیریت تولید، انبار و نگهداری می‌توانند در ساختارهای مختلف کسب‌وکار مورد استفاده قرار گیرند.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توسعه بازار این محصولات، بیش از هر چیز به ایجاد ارتباط پایدار با مشتریان سازمانی وابسته است.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گسترش شبکه فروش و اجرای پروژه‌های سازمانی می‌تواند این بخش از کسب‌وکار را بزرگ‌تر کند.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0687" y="1481125"/>
            <a:ext cx="3246120" cy="448056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 flipH="1">
            <a:off x="7772397" y="1902178"/>
            <a:ext cx="45719" cy="3647596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88932" y="1949440"/>
            <a:ext cx="25813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200" dirty="0" smtClean="0">
                <a:cs typeface="B Nazanin" pitchFamily="2" charset="-78"/>
              </a:rPr>
              <a:t>مجموعه‌ای </a:t>
            </a:r>
            <a:r>
              <a:rPr lang="fa-IR" sz="1200" dirty="0">
                <a:cs typeface="B Nazanin" pitchFamily="2" charset="-78"/>
              </a:rPr>
              <a:t>از راهکارهای نرم‌افزاری را برای حوزه‌های مختلف کسب‌وکار در اختیار دارد.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این سبد از حمل‌ونقل و لجستیک تا مدیریت سازمانی، </a:t>
            </a:r>
            <a:r>
              <a:rPr lang="en-US" sz="1200" dirty="0">
                <a:cs typeface="B Nazanin" pitchFamily="2" charset="-78"/>
              </a:rPr>
              <a:t>CRM، </a:t>
            </a:r>
            <a:r>
              <a:rPr lang="fa-IR" sz="1200" dirty="0">
                <a:cs typeface="B Nazanin" pitchFamily="2" charset="-78"/>
              </a:rPr>
              <a:t>املاک و سایر حوزه‌های تخصصی را پوشش می‌دهد</a:t>
            </a:r>
            <a:r>
              <a:rPr lang="fa-IR" sz="1200" dirty="0" smtClean="0">
                <a:cs typeface="B Nazanin" pitchFamily="2" charset="-78"/>
              </a:rPr>
              <a:t>.</a:t>
            </a:r>
          </a:p>
          <a:p>
            <a:pPr algn="just" rtl="1">
              <a:lnSpc>
                <a:spcPct val="150000"/>
              </a:lnSpc>
            </a:pPr>
            <a:r>
              <a:rPr lang="fa-IR" sz="1200" dirty="0">
                <a:cs typeface="B Nazanin" pitchFamily="2" charset="-78"/>
              </a:rPr>
              <a:t/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تنوع محصولات، امکان تمرکز بر بازارهای مختلف را بدون وابستگی به یک صنعت مشخص فراهم می‌کند</a:t>
            </a:r>
            <a:r>
              <a:rPr lang="fa-IR" sz="1200" dirty="0" smtClean="0">
                <a:cs typeface="B Nazanin" pitchFamily="2" charset="-78"/>
              </a:rPr>
              <a:t>.</a:t>
            </a:r>
          </a:p>
          <a:p>
            <a:pPr algn="just" rtl="1">
              <a:lnSpc>
                <a:spcPct val="150000"/>
              </a:lnSpc>
            </a:pPr>
            <a:r>
              <a:rPr lang="fa-IR" sz="1200" dirty="0">
                <a:cs typeface="B Nazanin" pitchFamily="2" charset="-78"/>
              </a:rPr>
              <a:t/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ادامه توسعه و تکمیل این محصولات، یکی از مسیرهای طبیعی رشد مجموعه خواهد بود.</a:t>
            </a:r>
          </a:p>
          <a:p>
            <a:pPr algn="just" rtl="1">
              <a:lnSpc>
                <a:spcPct val="150000"/>
              </a:lnSpc>
              <a:defRPr sz="1400" b="1">
                <a:solidFill>
                  <a:srgbClr val="101C30"/>
                </a:solidFill>
                <a:latin typeface="Aptos"/>
              </a:defRPr>
            </a:pPr>
            <a:endParaRPr sz="1200" dirty="0">
              <a:cs typeface="B Nazanin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41256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dirty="0"/>
              <a:t>Investor Presentation  |  </a:t>
            </a:r>
            <a:r>
              <a:rPr lang="fa-IR" dirty="0" smtClean="0"/>
              <a:t>14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131973" y="1614696"/>
            <a:ext cx="258132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dirty="0" smtClean="0">
                <a:cs typeface="B Titr" panose="00000700000000000000" pitchFamily="2" charset="-78"/>
              </a:rPr>
              <a:t>4.</a:t>
            </a:r>
            <a:r>
              <a:rPr lang="fa-IR" b="1" dirty="0" smtClean="0">
                <a:cs typeface="B Titr" panose="00000700000000000000" pitchFamily="2" charset="-78"/>
              </a:rPr>
              <a:t> </a:t>
            </a:r>
            <a:r>
              <a:rPr lang="fa-IR" b="1" dirty="0">
                <a:cs typeface="B Titr" panose="00000700000000000000" pitchFamily="2" charset="-78"/>
              </a:rPr>
              <a:t>توسعه سبد </a:t>
            </a:r>
            <a:r>
              <a:rPr lang="fa-IR" b="1" dirty="0" smtClean="0">
                <a:cs typeface="B Titr" panose="00000700000000000000" pitchFamily="2" charset="-78"/>
              </a:rPr>
              <a:t>محصولات</a:t>
            </a:r>
            <a:endParaRPr lang="fa-IR" b="1" dirty="0">
              <a:cs typeface="B Titr" panose="000007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56" y="1412206"/>
            <a:ext cx="3346450" cy="457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293" y="1461101"/>
            <a:ext cx="3346450" cy="457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808" y="1319530"/>
            <a:ext cx="3346450" cy="457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88542" y="136610"/>
            <a:ext cx="9804614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fa-IR" dirty="0">
                <a:cs typeface="B Nazanin" pitchFamily="2" charset="-78"/>
              </a:rPr>
              <a:t>فرصت </a:t>
            </a:r>
            <a:r>
              <a:rPr lang="fa-IR" dirty="0" smtClean="0">
                <a:cs typeface="B Nazanin" pitchFamily="2" charset="-78"/>
              </a:rPr>
              <a:t>سرمایه‌گذاری</a:t>
            </a:r>
            <a:endParaRPr lang="fa-IR" dirty="0">
              <a:cs typeface="B Nazanin" pitchFamily="2" charset="-7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34707" y="670982"/>
            <a:ext cx="525162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>
                <a:solidFill>
                  <a:srgbClr val="697380"/>
                </a:solidFill>
                <a:latin typeface="Aptos"/>
              </a:defRPr>
            </a:pPr>
            <a:r>
              <a:rPr lang="fa-IR" sz="1600" dirty="0">
                <a:solidFill>
                  <a:schemeClr val="accent3">
                    <a:lumMod val="50000"/>
                  </a:schemeClr>
                </a:solidFill>
                <a:cs typeface="B Nazanin" pitchFamily="2" charset="-78"/>
              </a:rPr>
              <a:t>سرمایه‌گذاری برای بومی‌سازی محصولات و توسعه بازار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808" y="1823124"/>
            <a:ext cx="45719" cy="3527474"/>
          </a:xfrm>
          <a:prstGeom prst="rect">
            <a:avLst/>
          </a:prstGeom>
          <a:solidFill>
            <a:srgbClr val="C29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97797" y="1946495"/>
            <a:ext cx="45719" cy="3585172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6219" y="1946494"/>
            <a:ext cx="45719" cy="3493673"/>
          </a:xfrm>
          <a:prstGeom prst="rect">
            <a:avLst/>
          </a:prstGeom>
          <a:solidFill>
            <a:srgbClr val="2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44714" y="1666581"/>
            <a:ext cx="265717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 smtClean="0">
                <a:cs typeface="B Nazanin" pitchFamily="2" charset="-78"/>
              </a:rPr>
              <a:t>7. </a:t>
            </a:r>
            <a:r>
              <a:rPr lang="fa-IR" b="1" dirty="0" smtClean="0">
                <a:cs typeface="B Nazanin" pitchFamily="2" charset="-78"/>
              </a:rPr>
              <a:t>رشد </a:t>
            </a:r>
            <a:r>
              <a:rPr lang="fa-IR" b="1" dirty="0">
                <a:cs typeface="B Nazanin" pitchFamily="2" charset="-78"/>
              </a:rPr>
              <a:t>بازار لجستیک و </a:t>
            </a:r>
            <a:r>
              <a:rPr lang="fa-IR" b="1" dirty="0" smtClean="0">
                <a:cs typeface="B Nazanin" pitchFamily="2" charset="-78"/>
              </a:rPr>
              <a:t>پیک</a:t>
            </a:r>
            <a:endParaRPr lang="fa-IR" b="1" dirty="0">
              <a:cs typeface="B Nazanin" pitchFamily="2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52185" y="2043189"/>
            <a:ext cx="2949704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200" dirty="0" smtClean="0">
                <a:cs typeface="B Nazanin" pitchFamily="2" charset="-78"/>
              </a:rPr>
              <a:t>راهکار </a:t>
            </a:r>
            <a:r>
              <a:rPr lang="fa-IR" sz="1200" dirty="0">
                <a:cs typeface="B Nazanin" pitchFamily="2" charset="-78"/>
              </a:rPr>
              <a:t>لجستیک </a:t>
            </a:r>
            <a:r>
              <a:rPr lang="fa-IR" sz="1200" dirty="0" smtClean="0">
                <a:cs typeface="B Nazanin" pitchFamily="2" charset="-78"/>
              </a:rPr>
              <a:t> شرکت بر </a:t>
            </a:r>
            <a:r>
              <a:rPr lang="fa-IR" sz="1200" dirty="0">
                <a:cs typeface="B Nazanin" pitchFamily="2" charset="-78"/>
              </a:rPr>
              <a:t>ثبت سفارش، مدیریت مشتری، اپلیکیشن پیک و رهگیری مرسوله متمرکز است.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گزارش‌گیری بر اساس مناطق، ناوگان و عملکرد عملیاتی نیز در ساختار محصول پیش‌بینی شده است.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این مجموعه قابلیت استفاده در شبکه‌های تحویل شهری و ناوگان موتورسیکلت را دارد.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گسترش همکاری با کسب‌وکارهایی که به خدمات توزیع و تحویل نیاز دارند، می‌تواند بازار این محصول را توسعه دهد</a:t>
            </a:r>
            <a:r>
              <a:rPr lang="fa-IR" sz="1200" dirty="0" smtClean="0">
                <a:cs typeface="B Nazanin" pitchFamily="2" charset="-78"/>
              </a:rPr>
              <a:t>.</a:t>
            </a:r>
            <a:endParaRPr lang="fa-IR" sz="1200" dirty="0">
              <a:cs typeface="B Nazanin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65351" y="1735449"/>
            <a:ext cx="299033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600" b="1" dirty="0" smtClean="0">
                <a:cs typeface="B Nazanin" pitchFamily="2" charset="-78"/>
              </a:rPr>
              <a:t>8</a:t>
            </a:r>
            <a:r>
              <a:rPr lang="fa-IR" sz="1600" b="1" dirty="0" smtClean="0">
                <a:cs typeface="B Nazanin" pitchFamily="2" charset="-78"/>
              </a:rPr>
              <a:t>.</a:t>
            </a:r>
            <a:r>
              <a:rPr lang="en-US" sz="1600" b="1" dirty="0" smtClean="0">
                <a:cs typeface="B Nazanin" pitchFamily="2" charset="-78"/>
              </a:rPr>
              <a:t> </a:t>
            </a:r>
            <a:r>
              <a:rPr lang="fa-IR" sz="1600" b="1" dirty="0" smtClean="0">
                <a:cs typeface="B Nazanin" pitchFamily="2" charset="-78"/>
              </a:rPr>
              <a:t>توسعه </a:t>
            </a:r>
            <a:r>
              <a:rPr lang="fa-IR" sz="1600" b="1" dirty="0" smtClean="0">
                <a:cs typeface="B Nazanin" pitchFamily="2" charset="-78"/>
              </a:rPr>
              <a:t>راهکارهای یکپارچه سازمانی</a:t>
            </a:r>
          </a:p>
          <a:p>
            <a:pPr algn="r" rtl="1"/>
            <a:endParaRPr lang="fa-IR" sz="1600" b="1" dirty="0">
              <a:cs typeface="B Nazanin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57679" y="2123669"/>
            <a:ext cx="2990335" cy="31393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en-US" sz="1200" dirty="0" smtClean="0">
                <a:cs typeface="B Nazanin" pitchFamily="2" charset="-78"/>
              </a:rPr>
              <a:t> </a:t>
            </a:r>
            <a:r>
              <a:rPr lang="fa-IR" sz="1200" dirty="0" smtClean="0">
                <a:cs typeface="B Nazanin" pitchFamily="2" charset="-78"/>
              </a:rPr>
              <a:t> </a:t>
            </a:r>
            <a:r>
              <a:rPr lang="en-US" sz="1200" dirty="0" smtClean="0">
                <a:cs typeface="B Nazanin" pitchFamily="2" charset="-78"/>
              </a:rPr>
              <a:t>ERP </a:t>
            </a:r>
            <a:r>
              <a:rPr lang="fa-IR" sz="1200" dirty="0" smtClean="0">
                <a:cs typeface="B Nazanin" pitchFamily="2" charset="-78"/>
              </a:rPr>
              <a:t>  این شرکت مجموعه‌ای </a:t>
            </a:r>
            <a:r>
              <a:rPr lang="fa-IR" sz="1200" dirty="0">
                <a:cs typeface="B Nazanin" pitchFamily="2" charset="-78"/>
              </a:rPr>
              <a:t>از حوزه‌های تدارکات، حسابداری، بهای تمام‌شده، تولید، نگهداری، کنترل کیفیت و انبار را در یک ساختار به هم متصل می‌کند.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این یکپارچگی برای کسب‌وکارهایی که اطلاعاتشان در بخش‌های مختلف پراکنده است، اهمیت ویژه‌ای دارد.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توسعه ارتباط میان این ماژول‌ها می‌تواند استفاده از سیستم را برای </a:t>
            </a:r>
            <a:r>
              <a:rPr lang="fa-IR" sz="1200" dirty="0" smtClean="0">
                <a:cs typeface="B Nazanin" pitchFamily="2" charset="-78"/>
              </a:rPr>
              <a:t>سازمان‌های</a:t>
            </a:r>
          </a:p>
          <a:p>
            <a:pPr algn="just" rtl="1">
              <a:lnSpc>
                <a:spcPct val="150000"/>
              </a:lnSpc>
            </a:pPr>
            <a:r>
              <a:rPr lang="fa-IR" sz="1200" dirty="0" smtClean="0">
                <a:cs typeface="B Nazanin" pitchFamily="2" charset="-78"/>
              </a:rPr>
              <a:t> </a:t>
            </a:r>
            <a:r>
              <a:rPr lang="fa-IR" sz="1200" dirty="0">
                <a:cs typeface="B Nazanin" pitchFamily="2" charset="-78"/>
              </a:rPr>
              <a:t>بزرگ‌تر نیز کاربردی‌تر کند.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در این مسیر، عمق محصول و کیفیت یکپارچه‌سازی اهمیت بیشتری از افزایش تعداد ماژول‌ها </a:t>
            </a:r>
            <a:r>
              <a:rPr lang="fa-IR" sz="1200" dirty="0" smtClean="0">
                <a:cs typeface="B Nazanin" pitchFamily="2" charset="-78"/>
              </a:rPr>
              <a:t>دارد.</a:t>
            </a:r>
            <a:endParaRPr lang="fa-IR" sz="1200" dirty="0">
              <a:cs typeface="B Nazanin" pitchFamily="2" charset="-78"/>
            </a:endParaRPr>
          </a:p>
          <a:p>
            <a:pPr algn="just" rtl="1">
              <a:lnSpc>
                <a:spcPct val="150000"/>
              </a:lnSpc>
            </a:pPr>
            <a:endParaRPr lang="fa-IR" sz="1200" dirty="0">
              <a:cs typeface="B Nazanin" pitchFamily="2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6596" y="2170266"/>
            <a:ext cx="293840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sz="1200" dirty="0" smtClean="0">
                <a:cs typeface="B Nazanin" pitchFamily="2" charset="-78"/>
              </a:rPr>
              <a:t> CRM </a:t>
            </a:r>
            <a:r>
              <a:rPr lang="fa-IR" sz="1200" dirty="0" smtClean="0">
                <a:cs typeface="B Nazanin" pitchFamily="2" charset="-78"/>
              </a:rPr>
              <a:t>شرکت بر پایه  </a:t>
            </a:r>
            <a:r>
              <a:rPr lang="fa-IR" sz="1200" dirty="0">
                <a:cs typeface="B Nazanin" pitchFamily="2" charset="-78"/>
              </a:rPr>
              <a:t>مدیریت اطلاعات مشتری، سوابق ارتباطی، دسته‌بندی مشتریان و برنامه‌های وفاداری تمرکز دارد.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ترکیب اطلاعات مشتری با تحلیل خرید و تعاملات، امکان شناخت دقیق‌تری از رفتار مشتری ایجاد می‌کند.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ارتباط این بخش با سیستم‌های فروش و </a:t>
            </a:r>
            <a:r>
              <a:rPr lang="en-US" sz="1200" dirty="0" smtClean="0">
                <a:cs typeface="B Nazanin" pitchFamily="2" charset="-78"/>
              </a:rPr>
              <a:t> ERP </a:t>
            </a:r>
            <a:r>
              <a:rPr lang="fa-IR" sz="1200" dirty="0" smtClean="0">
                <a:cs typeface="B Nazanin" pitchFamily="2" charset="-78"/>
              </a:rPr>
              <a:t>نیز </a:t>
            </a:r>
            <a:r>
              <a:rPr lang="fa-IR" sz="1200" dirty="0">
                <a:cs typeface="B Nazanin" pitchFamily="2" charset="-78"/>
              </a:rPr>
              <a:t>می‌تواند ارزش عملیاتی محصول را افزایش دهد.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توسعه نسخه‌های تخصصی </a:t>
            </a:r>
            <a:r>
              <a:rPr lang="en-US" sz="1200" dirty="0" smtClean="0">
                <a:cs typeface="B Nazanin" pitchFamily="2" charset="-78"/>
              </a:rPr>
              <a:t> CRM </a:t>
            </a:r>
            <a:r>
              <a:rPr lang="fa-IR" sz="1200" dirty="0">
                <a:cs typeface="B Nazanin" pitchFamily="2" charset="-78"/>
              </a:rPr>
              <a:t>برای صنایع مختلف، یکی از مسیرهای قابل بررسی برای رشد این حوزه است.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359" y="1685294"/>
            <a:ext cx="2347782" cy="61555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en-US" sz="1600" b="1" dirty="0" smtClean="0">
                <a:cs typeface="B Nazanin" panose="00000400000000000000" pitchFamily="2" charset="-78"/>
              </a:rPr>
              <a:t>CRM </a:t>
            </a:r>
            <a:r>
              <a:rPr lang="fa-IR" sz="1600" b="1" dirty="0" smtClean="0">
                <a:cs typeface="B Nazanin" panose="00000400000000000000" pitchFamily="2" charset="-78"/>
              </a:rPr>
              <a:t>9. توسعه </a:t>
            </a:r>
            <a:r>
              <a:rPr lang="fa-IR" sz="1600" b="1" dirty="0">
                <a:cs typeface="B Nazanin" panose="00000400000000000000" pitchFamily="2" charset="-78"/>
              </a:rPr>
              <a:t>بازار </a:t>
            </a:r>
            <a:endParaRPr lang="en-US" sz="1600" b="1" dirty="0">
              <a:cs typeface="B Nazanin" panose="00000400000000000000" pitchFamily="2" charset="-78"/>
            </a:endParaRPr>
          </a:p>
          <a:p>
            <a:endParaRPr lang="fa-IR" dirty="0"/>
          </a:p>
        </p:txBody>
      </p:sp>
      <p:sp>
        <p:nvSpPr>
          <p:cNvPr id="23" name="Rectangle 22"/>
          <p:cNvSpPr/>
          <p:nvPr/>
        </p:nvSpPr>
        <p:spPr>
          <a:xfrm>
            <a:off x="279053" y="6518989"/>
            <a:ext cx="141897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0"/>
                </a:solidFill>
                <a:latin typeface="Aptos"/>
              </a:defRPr>
            </a:pPr>
            <a:r>
              <a:rPr lang="en-US" dirty="0"/>
              <a:t>Investor Presentation  |  </a:t>
            </a:r>
            <a:r>
              <a:rPr lang="en-US" dirty="0" smtClean="0"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76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006" y="1491993"/>
            <a:ext cx="3346450" cy="457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72" y="1528615"/>
            <a:ext cx="3346450" cy="457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357" y="1491993"/>
            <a:ext cx="3346450" cy="457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49178" y="111211"/>
            <a:ext cx="910692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fa-IR" dirty="0">
                <a:cs typeface="B Nazanin" pitchFamily="2" charset="-78"/>
              </a:rPr>
              <a:t>فرصت </a:t>
            </a:r>
            <a:r>
              <a:rPr lang="fa-IR" dirty="0" smtClean="0">
                <a:cs typeface="B Nazanin" pitchFamily="2" charset="-78"/>
              </a:rPr>
              <a:t>سرمایه‌گذاری</a:t>
            </a:r>
            <a:endParaRPr lang="fa-IR" dirty="0">
              <a:cs typeface="B Nazanin" pitchFamily="2" charset="-78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60" y="1912264"/>
            <a:ext cx="120119" cy="3755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806" y="1948275"/>
            <a:ext cx="124139" cy="3719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147" y="2091777"/>
            <a:ext cx="116938" cy="350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717797" y="598271"/>
            <a:ext cx="3542957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1600" dirty="0">
                <a:solidFill>
                  <a:schemeClr val="accent3">
                    <a:lumMod val="50000"/>
                  </a:schemeClr>
                </a:solidFill>
                <a:cs typeface="B Nazanin" pitchFamily="2" charset="-78"/>
              </a:rPr>
              <a:t>سرمایه‌گذاری برای بومی‌سازی محصولات و توسعه </a:t>
            </a:r>
            <a:r>
              <a:rPr lang="fa-IR" sz="1600" dirty="0" smtClean="0">
                <a:solidFill>
                  <a:schemeClr val="accent3">
                    <a:lumMod val="50000"/>
                  </a:schemeClr>
                </a:solidFill>
                <a:cs typeface="B Nazanin" pitchFamily="2" charset="-78"/>
              </a:rPr>
              <a:t>بازار</a:t>
            </a:r>
            <a:endParaRPr lang="fa-IR" sz="1600" dirty="0">
              <a:solidFill>
                <a:schemeClr val="accent3">
                  <a:lumMod val="50000"/>
                </a:schemeClr>
              </a:solidFill>
              <a:cs typeface="B Nazanin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1550" y="2412248"/>
            <a:ext cx="29588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200" dirty="0" smtClean="0">
                <a:cs typeface="B Nazanin" pitchFamily="2" charset="-78"/>
              </a:rPr>
              <a:t>یکی </a:t>
            </a:r>
            <a:r>
              <a:rPr lang="fa-IR" sz="1200" dirty="0">
                <a:cs typeface="B Nazanin" pitchFamily="2" charset="-78"/>
              </a:rPr>
              <a:t>از ویژگی‌های </a:t>
            </a:r>
            <a:r>
              <a:rPr lang="fa-IR" sz="1200" dirty="0" smtClean="0">
                <a:cs typeface="B Nazanin" pitchFamily="2" charset="-78"/>
              </a:rPr>
              <a:t>سبد، </a:t>
            </a:r>
            <a:r>
              <a:rPr lang="fa-IR" sz="1200" dirty="0">
                <a:cs typeface="B Nazanin" pitchFamily="2" charset="-78"/>
              </a:rPr>
              <a:t>طراحی محصولات برای نیازهای مشخص هر صنعت است؛ برای نمونه، راهکار جداگانه‌ای برای مدیریت دفاتر حقوقی و سامانه‌ای تخصصی برای املاک ارائه شده است.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این رویکرد به جای ارائه یک نرم‌افزار عمومی، بر فرآیندهای واقعی هر حوزه تمرکز دارد.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توسعه محصولات تخصصی می‌تواند امکان حضور در بازارهای کوچک‌تر اما هدفمند را فراهم کند.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تداوم این مسیر، سبد </a:t>
            </a:r>
            <a:r>
              <a:rPr lang="fa-IR" sz="1200" dirty="0" smtClean="0">
                <a:cs typeface="B Nazanin" pitchFamily="2" charset="-78"/>
              </a:rPr>
              <a:t> شرکت را </a:t>
            </a:r>
            <a:r>
              <a:rPr lang="fa-IR" sz="1200" dirty="0">
                <a:cs typeface="B Nazanin" pitchFamily="2" charset="-78"/>
              </a:rPr>
              <a:t>از نظر تنوع و عمق راهکارها گسترده‌تر خواهد کرد.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1181" y="1948275"/>
            <a:ext cx="295880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600" b="1" dirty="0" smtClean="0">
                <a:cs typeface="B Nazanin" pitchFamily="2" charset="-78"/>
              </a:rPr>
              <a:t>10 . ورود </a:t>
            </a:r>
            <a:r>
              <a:rPr lang="fa-IR" sz="1600" b="1" dirty="0">
                <a:cs typeface="B Nazanin" pitchFamily="2" charset="-78"/>
              </a:rPr>
              <a:t>عمیق‌تر به بازارهای </a:t>
            </a:r>
            <a:r>
              <a:rPr lang="fa-IR" sz="1600" b="1" dirty="0" smtClean="0">
                <a:cs typeface="B Nazanin" pitchFamily="2" charset="-78"/>
              </a:rPr>
              <a:t>تخصصی</a:t>
            </a:r>
            <a:endParaRPr lang="fa-IR" sz="1600" b="1" dirty="0">
              <a:cs typeface="B Nazanin" pitchFamily="2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64478" y="2107607"/>
            <a:ext cx="3140268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endParaRPr lang="fa-IR" sz="1200" b="1" dirty="0">
              <a:cs typeface="B Nazanin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sz="1200" dirty="0">
                <a:cs typeface="B Nazanin" pitchFamily="2" charset="-78"/>
              </a:rPr>
              <a:t>در </a:t>
            </a:r>
            <a:r>
              <a:rPr lang="fa-IR" sz="1200" dirty="0" smtClean="0">
                <a:cs typeface="B Nazanin" pitchFamily="2" charset="-78"/>
              </a:rPr>
              <a:t>سبد شرکت ، </a:t>
            </a:r>
            <a:r>
              <a:rPr lang="fa-IR" sz="1200" dirty="0">
                <a:cs typeface="B Nazanin" pitchFamily="2" charset="-78"/>
              </a:rPr>
              <a:t>محصولاتی مانند بازار تخصصی طلا و پلتفرم املاک، ظرفیت حضور در مدل‌های مبتنی بر تجارت و بازار آنلاین را نشان می‌دهند.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در پلتفرم طلا، امکاناتی مانند مدیریت کالا، سفارش، حساب مشتری و سوابق تراکنش در نظر گرفته شده است.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ساختار محصول همچنین قابلیت پشتیبانی از شبکه نمایندگان و مدل‌های مختلف تجارت دیجیتال را دنبال می‌کند.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توسعه این بخش می‌تواند </a:t>
            </a:r>
            <a:r>
              <a:rPr lang="fa-IR" sz="1200" dirty="0" smtClean="0">
                <a:cs typeface="B Nazanin" pitchFamily="2" charset="-78"/>
              </a:rPr>
              <a:t>شرکت را </a:t>
            </a:r>
            <a:r>
              <a:rPr lang="fa-IR" sz="1200" dirty="0">
                <a:cs typeface="B Nazanin" pitchFamily="2" charset="-78"/>
              </a:rPr>
              <a:t>در کنار نرم‌افزارهای سازمانی، وارد بازارهای پلتفرمی نیز کند</a:t>
            </a:r>
            <a:r>
              <a:rPr lang="fa-IR" sz="1200" dirty="0" smtClean="0">
                <a:cs typeface="B Nazanin" pitchFamily="2" charset="-78"/>
              </a:rPr>
              <a:t>.</a:t>
            </a:r>
            <a:endParaRPr lang="fa-IR" sz="1200" dirty="0">
              <a:cs typeface="B Nazanin" pitchFamily="2" charset="-7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6479" y="2387817"/>
            <a:ext cx="3140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200" dirty="0" smtClean="0">
                <a:cs typeface="B Nazanin" pitchFamily="2" charset="-78"/>
              </a:rPr>
              <a:t>گستردگی </a:t>
            </a:r>
            <a:r>
              <a:rPr lang="fa-IR" sz="1200" dirty="0">
                <a:cs typeface="B Nazanin" pitchFamily="2" charset="-78"/>
              </a:rPr>
              <a:t>محصولات </a:t>
            </a:r>
            <a:r>
              <a:rPr lang="fa-IR" sz="1200" dirty="0" smtClean="0">
                <a:cs typeface="B Nazanin" pitchFamily="2" charset="-78"/>
              </a:rPr>
              <a:t>شرکت، </a:t>
            </a:r>
            <a:r>
              <a:rPr lang="fa-IR" sz="1200" dirty="0">
                <a:cs typeface="B Nazanin" pitchFamily="2" charset="-78"/>
              </a:rPr>
              <a:t>امکان فعالیت هم‌زمان در چند بازار و صنعت را فراهم کرده است.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در مرحله بعد، توسعه بازار نیازمند تقویت فروش، پشتیبانی، استقرار و ارتباط مستمر با مشتریان خواهد بود.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تمرکز بر بازارهای هدف و انتخاب حوزه‌هایی که تناسب بیشتری با محصولات موجود دارند، می‌تواند مسیر توسعه را منسجم‌تر کند.</a:t>
            </a:r>
            <a:br>
              <a:rPr lang="fa-IR" sz="1200" dirty="0">
                <a:cs typeface="B Nazanin" pitchFamily="2" charset="-78"/>
              </a:rPr>
            </a:br>
            <a:r>
              <a:rPr lang="fa-IR" sz="1200" dirty="0">
                <a:cs typeface="B Nazanin" pitchFamily="2" charset="-78"/>
              </a:rPr>
              <a:t>به این ترتیب، رشد مجموعه تنها به تولید محصول جدید وابسته نخواهد بود و از توسعه بازار محصولات فعلی نیز بهره خواهد گرفت.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5355" y="1948275"/>
            <a:ext cx="2582563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600" b="1" dirty="0" smtClean="0">
                <a:cs typeface="B Nazanin" pitchFamily="2" charset="-78"/>
              </a:rPr>
              <a:t>12. توسعه </a:t>
            </a:r>
            <a:r>
              <a:rPr lang="fa-IR" sz="1600" b="1" dirty="0">
                <a:cs typeface="B Nazanin" pitchFamily="2" charset="-78"/>
              </a:rPr>
              <a:t>و مقیاس‌پذیری بازار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1134" y="1912264"/>
            <a:ext cx="2908193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600" dirty="0">
                <a:cs typeface="B Nazanin" pitchFamily="2" charset="-78"/>
              </a:rPr>
              <a:t>011 </a:t>
            </a:r>
            <a:r>
              <a:rPr lang="fa-IR" sz="1600" b="1" dirty="0">
                <a:cs typeface="B Nazanin" pitchFamily="2" charset="-78"/>
              </a:rPr>
              <a:t>توسعه پلتفرم‌های تجارت </a:t>
            </a:r>
            <a:r>
              <a:rPr lang="fa-IR" sz="1600" b="1" dirty="0" smtClean="0">
                <a:cs typeface="B Nazanin" pitchFamily="2" charset="-78"/>
              </a:rPr>
              <a:t>دیجیتال</a:t>
            </a:r>
            <a:endParaRPr lang="fa-IR" sz="1600" b="1" dirty="0">
              <a:cs typeface="B Nazanin" pitchFamily="2" charset="-7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98322" y="6357779"/>
            <a:ext cx="161294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Investor Presentation  |  </a:t>
            </a:r>
            <a:r>
              <a:rPr lang="en-US" sz="1000" dirty="0" smtClean="0"/>
              <a:t>16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0751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1267</Words>
  <Application>Microsoft Office PowerPoint</Application>
  <PresentationFormat>Widescreen</PresentationFormat>
  <Paragraphs>203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B Nazanin</vt:lpstr>
      <vt:lpstr>B Titr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abarline</dc:creator>
  <dc:description>generated using python-pptx</dc:description>
  <cp:lastModifiedBy>Abarline</cp:lastModifiedBy>
  <cp:revision>102</cp:revision>
  <dcterms:created xsi:type="dcterms:W3CDTF">2013-01-27T09:14:16Z</dcterms:created>
  <dcterms:modified xsi:type="dcterms:W3CDTF">2026-09-20T12:46:49Z</dcterms:modified>
</cp:coreProperties>
</file>